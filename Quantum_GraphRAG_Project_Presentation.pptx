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2926080"/>
          </a:xfrm>
          <a:prstGeom prst="rect">
            <a:avLst/>
          </a:prstGeom>
          <a:noFill/>
        </p:spPr>
        <p:txBody>
          <a:bodyPr wrap="square">
            <a:spAutoFit/>
          </a:bodyPr>
          <a:lstStyle/>
          <a:p>
            <a:pPr>
              <a:spcAft>
                <a:spcPts val="1400"/>
              </a:spcAft>
              <a:defRPr sz="1300" b="1">
                <a:solidFill>
                  <a:srgbClr val="0EA5E9"/>
                </a:solidFill>
              </a:defRPr>
            </a:pPr>
            <a:r>
              <a:t>HYBRID QUANTUM-CLASSICAL RETRIEVAL FOR MULTI-HOP REASONING</a:t>
            </a:r>
          </a:p>
          <a:p>
            <a:pPr>
              <a:spcAft>
                <a:spcPts val="1400"/>
              </a:spcAft>
              <a:defRPr sz="3600" b="1">
                <a:solidFill>
                  <a:srgbClr val="FFFFFF"/>
                </a:solidFill>
              </a:defRPr>
            </a:pPr>
            <a:r>
              <a:t>Quantum GraphRAG (Q-GraphRAG)</a:t>
            </a:r>
          </a:p>
          <a:p>
            <a:pPr>
              <a:defRPr sz="1800">
                <a:solidFill>
                  <a:srgbClr val="CBD5E1"/>
                </a:solidFill>
              </a:defRPr>
            </a:pPr>
            <a:r>
              <a:t>Overcoming Vector Myopia &amp; Classical Hub-Trapping via Continuous-Time Quantum Walks</a:t>
            </a:r>
          </a:p>
        </p:txBody>
      </p:sp>
      <p:sp>
        <p:nvSpPr>
          <p:cNvPr id="4" name="TextBox 3"/>
          <p:cNvSpPr txBox="1"/>
          <p:nvPr/>
        </p:nvSpPr>
        <p:spPr>
          <a:xfrm>
            <a:off x="914400" y="5029200"/>
            <a:ext cx="10362895" cy="1097280"/>
          </a:xfrm>
          <a:prstGeom prst="rect">
            <a:avLst/>
          </a:prstGeom>
          <a:noFill/>
        </p:spPr>
        <p:txBody>
          <a:bodyPr wrap="none">
            <a:spAutoFit/>
          </a:bodyPr>
          <a:lstStyle/>
          <a:p>
            <a:pPr>
              <a:defRPr sz="1200" b="1">
                <a:solidFill>
                  <a:srgbClr val="10B981"/>
                </a:solidFill>
              </a:defRPr>
            </a:pPr>
            <a:r>
              <a:t>Core Pillars: 20-Paper Literature Survey | Rigorous Research Gap | Problem Statement | Novel Methodology</a:t>
            </a:r>
          </a:p>
          <a:p>
            <a:pPr>
              <a:defRPr sz="1100">
                <a:solidFill>
                  <a:srgbClr val="64748B"/>
                </a:solidFill>
              </a:defRPr>
            </a:pPr>
            <a:r>
              <a:t>Target Domains: Precision Oncology, Causal Genomics, Quantum Condensed Matter, &amp; Deep Knowledge Graphs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MOTIVATION &amp; CONTEXT</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The Core Dilemma: Why Complex Questions Break Modern AI</a:t>
            </a:r>
          </a:p>
        </p:txBody>
      </p:sp>
      <p:sp>
        <p:nvSpPr>
          <p:cNvPr id="4" name="Rounded Rectangle 3"/>
          <p:cNvSpPr/>
          <p:nvPr/>
        </p:nvSpPr>
        <p:spPr>
          <a:xfrm>
            <a:off x="731520" y="1371600"/>
            <a:ext cx="32918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26080" cy="4389120"/>
          </a:xfrm>
          <a:prstGeom prst="rect">
            <a:avLst/>
          </a:prstGeom>
          <a:noFill/>
        </p:spPr>
        <p:txBody>
          <a:bodyPr wrap="square">
            <a:spAutoFit/>
          </a:bodyPr>
          <a:lstStyle/>
          <a:p>
            <a:pPr>
              <a:spcAft>
                <a:spcPts val="1000"/>
              </a:spcAft>
              <a:defRPr sz="1600" b="1">
                <a:solidFill>
                  <a:srgbClr val="F43F5E"/>
                </a:solidFill>
              </a:defRPr>
            </a:pPr>
            <a:r>
              <a:t>1. The Flat Vector Problem</a:t>
            </a:r>
          </a:p>
          <a:p>
            <a:pPr>
              <a:spcAft>
                <a:spcPts val="600"/>
              </a:spcAft>
              <a:defRPr sz="1200">
                <a:solidFill>
                  <a:srgbClr val="1E293B"/>
                </a:solidFill>
              </a:defRPr>
            </a:pPr>
            <a:r>
              <a:t>• Traditional RAG crushes complex text into flat geometric vectors.</a:t>
            </a:r>
          </a:p>
          <a:p>
            <a:pPr>
              <a:spcAft>
                <a:spcPts val="600"/>
              </a:spcAft>
              <a:defRPr sz="1200">
                <a:solidFill>
                  <a:srgbClr val="1E293B"/>
                </a:solidFill>
              </a:defRPr>
            </a:pPr>
            <a:r>
              <a:t>• Works wonderfully for direct fact-finding (e.g. 'What is aspirin?').</a:t>
            </a:r>
          </a:p>
          <a:p>
            <a:pPr>
              <a:spcAft>
                <a:spcPts val="600"/>
              </a:spcAft>
              <a:defRPr sz="1200">
                <a:solidFill>
                  <a:srgbClr val="1E293B"/>
                </a:solidFill>
              </a:defRPr>
            </a:pPr>
            <a:r>
              <a:t>• Completely blinds the model to multi-step relationships ('Vector Myopia').</a:t>
            </a:r>
          </a:p>
          <a:p>
            <a:pPr>
              <a:spcAft>
                <a:spcPts val="600"/>
              </a:spcAft>
              <a:defRPr sz="1200">
                <a:solidFill>
                  <a:srgbClr val="1E293B"/>
                </a:solidFill>
              </a:defRPr>
            </a:pPr>
            <a:r>
              <a:t>• Fails when facts are scattered across three or four connected research papers.</a:t>
            </a:r>
          </a:p>
        </p:txBody>
      </p:sp>
      <p:sp>
        <p:nvSpPr>
          <p:cNvPr id="6" name="Rounded Rectangle 5"/>
          <p:cNvSpPr/>
          <p:nvPr/>
        </p:nvSpPr>
        <p:spPr>
          <a:xfrm>
            <a:off x="4389120" y="1371600"/>
            <a:ext cx="32918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2926080" cy="4389120"/>
          </a:xfrm>
          <a:prstGeom prst="rect">
            <a:avLst/>
          </a:prstGeom>
          <a:noFill/>
        </p:spPr>
        <p:txBody>
          <a:bodyPr wrap="square">
            <a:spAutoFit/>
          </a:bodyPr>
          <a:lstStyle/>
          <a:p>
            <a:pPr>
              <a:spcAft>
                <a:spcPts val="1000"/>
              </a:spcAft>
              <a:defRPr sz="1600" b="1">
                <a:solidFill>
                  <a:srgbClr val="F59E0B"/>
                </a:solidFill>
              </a:defRPr>
            </a:pPr>
            <a:r>
              <a:t>2. Classical Graph Bottleneck</a:t>
            </a:r>
          </a:p>
          <a:p>
            <a:pPr>
              <a:spcAft>
                <a:spcPts val="600"/>
              </a:spcAft>
              <a:defRPr sz="1200">
                <a:solidFill>
                  <a:srgbClr val="1E293B"/>
                </a:solidFill>
              </a:defRPr>
            </a:pPr>
            <a:r>
              <a:t>• Adding Knowledge Graphs helps, but classical search crawls randomly like dye diffusing in water.</a:t>
            </a:r>
          </a:p>
          <a:p>
            <a:pPr>
              <a:spcAft>
                <a:spcPts val="600"/>
              </a:spcAft>
              <a:defRPr sz="1200">
                <a:solidFill>
                  <a:srgbClr val="1E293B"/>
                </a:solidFill>
              </a:defRPr>
            </a:pPr>
            <a:r>
              <a:t>• Diffusion speed crawls at O(sqrt(t))—very slow for deep exploration.</a:t>
            </a:r>
          </a:p>
          <a:p>
            <a:pPr>
              <a:spcAft>
                <a:spcPts val="600"/>
              </a:spcAft>
              <a:defRPr sz="1200">
                <a:solidFill>
                  <a:srgbClr val="1E293B"/>
                </a:solidFill>
              </a:defRPr>
            </a:pPr>
            <a:r>
              <a:t>• Gets sucked into high-traffic 'hub nodes' (like 'gene' or 'cell') and misses the real answer.</a:t>
            </a:r>
          </a:p>
          <a:p>
            <a:pPr>
              <a:spcAft>
                <a:spcPts val="600"/>
              </a:spcAft>
              <a:defRPr sz="1200">
                <a:solidFill>
                  <a:srgbClr val="1E293B"/>
                </a:solidFill>
              </a:defRPr>
            </a:pPr>
            <a:r>
              <a:t>• Exploring beyond 2 hops creates exponential noise and slows down dramatically.</a:t>
            </a:r>
          </a:p>
        </p:txBody>
      </p:sp>
      <p:sp>
        <p:nvSpPr>
          <p:cNvPr id="8" name="Rounded Rectangle 7"/>
          <p:cNvSpPr/>
          <p:nvPr/>
        </p:nvSpPr>
        <p:spPr>
          <a:xfrm>
            <a:off x="80467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389120"/>
          </a:xfrm>
          <a:prstGeom prst="rect">
            <a:avLst/>
          </a:prstGeom>
          <a:noFill/>
        </p:spPr>
        <p:txBody>
          <a:bodyPr wrap="square">
            <a:spAutoFit/>
          </a:bodyPr>
          <a:lstStyle/>
          <a:p>
            <a:pPr>
              <a:spcAft>
                <a:spcPts val="1000"/>
              </a:spcAft>
              <a:defRPr sz="1600" b="1">
                <a:solidFill>
                  <a:srgbClr val="1E3A8A"/>
                </a:solidFill>
              </a:defRPr>
            </a:pPr>
            <a:r>
              <a:t>3. The Quantum Advantage</a:t>
            </a:r>
          </a:p>
          <a:p>
            <a:pPr>
              <a:spcAft>
                <a:spcPts val="600"/>
              </a:spcAft>
              <a:defRPr sz="1200">
                <a:solidFill>
                  <a:srgbClr val="1E293B"/>
                </a:solidFill>
              </a:defRPr>
            </a:pPr>
            <a:r>
              <a:t>• Continuous-Time Quantum Walks move like coherent light waves (O(t) ballistic speed).</a:t>
            </a:r>
          </a:p>
          <a:p>
            <a:pPr>
              <a:spcAft>
                <a:spcPts val="600"/>
              </a:spcAft>
              <a:defRPr sz="1200">
                <a:solidFill>
                  <a:srgbClr val="1E293B"/>
                </a:solidFill>
              </a:defRPr>
            </a:pPr>
            <a:r>
              <a:t>• Wave interference boosts genuine causal paths and cancels out distracting noise.</a:t>
            </a:r>
          </a:p>
          <a:p>
            <a:pPr>
              <a:spcAft>
                <a:spcPts val="600"/>
              </a:spcAft>
              <a:defRPr sz="1200">
                <a:solidFill>
                  <a:srgbClr val="1E293B"/>
                </a:solidFill>
              </a:defRPr>
            </a:pPr>
            <a:r>
              <a:t>• Naturally tunnels straight through giant hub nodes without getting stuck.</a:t>
            </a:r>
          </a:p>
          <a:p>
            <a:pPr>
              <a:spcAft>
                <a:spcPts val="600"/>
              </a:spcAft>
              <a:defRPr sz="1200">
                <a:solidFill>
                  <a:srgbClr val="1E293B"/>
                </a:solidFill>
              </a:defRPr>
            </a:pPr>
            <a:r>
              <a:t>• Enables pinpoint, hallucination-free retrieval for 3-hop to 5-hop complex queries.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PROBLEM STATEMENT</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Formal Problem Statement: The Multi-Hop Retrieval Bottleneck</a:t>
            </a:r>
          </a:p>
        </p:txBody>
      </p:sp>
      <p:sp>
        <p:nvSpPr>
          <p:cNvPr id="4" name="Rounded Rectangle 3"/>
          <p:cNvSpPr/>
          <p:nvPr/>
        </p:nvSpPr>
        <p:spPr>
          <a:xfrm>
            <a:off x="731520" y="137160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389120"/>
          </a:xfrm>
          <a:prstGeom prst="rect">
            <a:avLst/>
          </a:prstGeom>
          <a:noFill/>
        </p:spPr>
        <p:txBody>
          <a:bodyPr wrap="square">
            <a:spAutoFit/>
          </a:bodyPr>
          <a:lstStyle/>
          <a:p>
            <a:pPr>
              <a:spcAft>
                <a:spcPts val="1200"/>
              </a:spcAft>
              <a:defRPr sz="1600" b="1">
                <a:solidFill>
                  <a:srgbClr val="1E3A8A"/>
                </a:solidFill>
              </a:defRPr>
            </a:pPr>
            <a:r>
              <a:t>The Real-World Challenge</a:t>
            </a:r>
          </a:p>
          <a:p>
            <a:pPr>
              <a:spcAft>
                <a:spcPts val="1000"/>
              </a:spcAft>
            </a:pPr>
            <a:r>
              <a:rPr b="1" sz="1300">
                <a:solidFill>
                  <a:srgbClr val="1E293B"/>
                </a:solidFill>
              </a:rPr>
              <a:t>• High-Stakes Decision Failure:</a:t>
            </a:r>
            <a:r>
              <a:rPr sz="1200">
                <a:solidFill>
                  <a:srgbClr val="64748B"/>
                </a:solidFill>
              </a:rPr>
              <a:t> In precision oncology, drug discovery, and advanced physics, answering a critical query requires linking 3 to 5 separate biological or physical steps.</a:t>
            </a:r>
          </a:p>
          <a:p>
            <a:pPr>
              <a:spcAft>
                <a:spcPts val="1000"/>
              </a:spcAft>
            </a:pPr>
            <a:r>
              <a:rPr b="1" sz="1300">
                <a:solidFill>
                  <a:srgbClr val="1E293B"/>
                </a:solidFill>
              </a:rPr>
              <a:t>• The 'Vector Myopia' Trap:</a:t>
            </a:r>
            <a:r>
              <a:rPr sz="1200">
                <a:solidFill>
                  <a:srgbClr val="64748B"/>
                </a:solidFill>
              </a:rPr>
              <a:t> Dense semantic search treats documents as isolated points. It has zero awareness of graph structure, failing 68% of multi-hop biomedical inquiries.</a:t>
            </a:r>
          </a:p>
          <a:p>
            <a:pPr>
              <a:spcAft>
                <a:spcPts val="1000"/>
              </a:spcAft>
            </a:pPr>
            <a:r>
              <a:rPr b="1" sz="1300">
                <a:solidFill>
                  <a:srgbClr val="1E293B"/>
                </a:solidFill>
              </a:rPr>
              <a:t>• Hallucination Cascade:</a:t>
            </a:r>
            <a:r>
              <a:rPr sz="1200">
                <a:solidFill>
                  <a:srgbClr val="64748B"/>
                </a:solidFill>
              </a:rPr>
              <a:t> When an LLM receives incomplete or noisy context, it hallucinates connections—a dangerous outcome for medical diagnostics or enterprise compliance.</a:t>
            </a:r>
          </a:p>
        </p:txBody>
      </p:sp>
      <p:sp>
        <p:nvSpPr>
          <p:cNvPr id="6" name="Rounded Rectangle 5"/>
          <p:cNvSpPr/>
          <p:nvPr/>
        </p:nvSpPr>
        <p:spPr>
          <a:xfrm>
            <a:off x="62179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389120"/>
          </a:xfrm>
          <a:prstGeom prst="rect">
            <a:avLst/>
          </a:prstGeom>
          <a:noFill/>
        </p:spPr>
        <p:txBody>
          <a:bodyPr wrap="square">
            <a:spAutoFit/>
          </a:bodyPr>
          <a:lstStyle/>
          <a:p>
            <a:pPr>
              <a:spcAft>
                <a:spcPts val="1200"/>
              </a:spcAft>
              <a:defRPr sz="1600" b="1">
                <a:solidFill>
                  <a:srgbClr val="F43F5E"/>
                </a:solidFill>
              </a:defRPr>
            </a:pPr>
            <a:r>
              <a:t>The Algorithmic Breakdown</a:t>
            </a:r>
          </a:p>
          <a:p>
            <a:pPr>
              <a:spcAft>
                <a:spcPts val="1000"/>
              </a:spcAft>
            </a:pPr>
            <a:r>
              <a:rPr b="1" sz="1300">
                <a:solidFill>
                  <a:srgbClr val="1E293B"/>
                </a:solidFill>
              </a:rPr>
              <a:t>• Diffusive Slowdown O(sqrt(t)):</a:t>
            </a:r>
            <a:r>
              <a:rPr sz="1200">
                <a:solidFill>
                  <a:srgbClr val="64748B"/>
                </a:solidFill>
              </a:rPr>
              <a:t> Classical random walk algorithms spread slowly across networks. Deep searches quickly dilute true signals with irrelevant background noise.</a:t>
            </a:r>
          </a:p>
          <a:p>
            <a:pPr>
              <a:spcAft>
                <a:spcPts val="1000"/>
              </a:spcAft>
            </a:pPr>
            <a:r>
              <a:rPr b="1" sz="1300">
                <a:solidFill>
                  <a:srgbClr val="1E293B"/>
                </a:solidFill>
              </a:rPr>
              <a:t>• Hub-Trapping Pitfall:</a:t>
            </a:r>
            <a:r>
              <a:rPr sz="1200">
                <a:solidFill>
                  <a:srgbClr val="64748B"/>
                </a:solidFill>
              </a:rPr>
              <a:t> Algorithms like PageRank dump probability mass into ultra-connected 'hub' concepts, completely drowning out specific, rare gene/drug interactions.</a:t>
            </a:r>
          </a:p>
          <a:p>
            <a:pPr>
              <a:spcAft>
                <a:spcPts val="1000"/>
              </a:spcAft>
            </a:pPr>
            <a:r>
              <a:rPr b="1" sz="1300">
                <a:solidFill>
                  <a:srgbClr val="1E293B"/>
                </a:solidFill>
              </a:rPr>
              <a:t>• Exponential Complexity O(d^H):</a:t>
            </a:r>
            <a:r>
              <a:rPr sz="1200">
                <a:solidFill>
                  <a:srgbClr val="64748B"/>
                </a:solidFill>
              </a:rPr>
              <a:t> Expanding graph neighbors step-by-step blows up memory and computation, making real-time search beyond 2 hops unfeasible in production.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LITERATURE SURVEY (20 PAPERS)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Literature Survey: 20 Seminal Papers Across 3 Pillars</a:t>
            </a:r>
          </a:p>
        </p:txBody>
      </p:sp>
      <p:sp>
        <p:nvSpPr>
          <p:cNvPr id="4" name="Rounded Rectangle 3"/>
          <p:cNvSpPr/>
          <p:nvPr/>
        </p:nvSpPr>
        <p:spPr>
          <a:xfrm>
            <a:off x="7315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3017520" cy="4389120"/>
          </a:xfrm>
          <a:prstGeom prst="rect">
            <a:avLst/>
          </a:prstGeom>
          <a:noFill/>
        </p:spPr>
        <p:txBody>
          <a:bodyPr wrap="square">
            <a:spAutoFit/>
          </a:bodyPr>
          <a:lstStyle/>
          <a:p>
            <a:pPr>
              <a:spcAft>
                <a:spcPts val="600"/>
              </a:spcAft>
              <a:defRPr sz="1500" b="1">
                <a:solidFill>
                  <a:srgbClr val="1E3A8A"/>
                </a:solidFill>
              </a:defRPr>
            </a:pPr>
            <a:r>
              <a:t>Pillar 1: RAG &amp; Graph Retrieval</a:t>
            </a:r>
          </a:p>
          <a:p>
            <a:pPr>
              <a:spcAft>
                <a:spcPts val="1000"/>
              </a:spcAft>
              <a:defRPr sz="1100">
                <a:solidFill>
                  <a:srgbClr val="6366F1"/>
                </a:solidFill>
              </a:defRPr>
            </a:pPr>
            <a:r>
              <a:t>8 Key Papers (2020–2026)</a:t>
            </a:r>
          </a:p>
          <a:p>
            <a:pPr>
              <a:spcAft>
                <a:spcPts val="400"/>
              </a:spcAft>
              <a:defRPr sz="1050">
                <a:solidFill>
                  <a:srgbClr val="1E293B"/>
                </a:solidFill>
              </a:defRPr>
            </a:pPr>
            <a:r>
              <a:t>1. Lewis et al. (2020) - Foundational Dense RAG</a:t>
            </a:r>
          </a:p>
          <a:p>
            <a:pPr>
              <a:spcAft>
                <a:spcPts val="400"/>
              </a:spcAft>
              <a:defRPr sz="1050">
                <a:solidFill>
                  <a:srgbClr val="1E293B"/>
                </a:solidFill>
              </a:defRPr>
            </a:pPr>
            <a:r>
              <a:t>2. Edge et al. (2024/25) - Microsoft GraphRAG</a:t>
            </a:r>
          </a:p>
          <a:p>
            <a:pPr>
              <a:spcAft>
                <a:spcPts val="400"/>
              </a:spcAft>
              <a:defRPr sz="1050">
                <a:solidFill>
                  <a:srgbClr val="1E293B"/>
                </a:solidFill>
              </a:defRPr>
            </a:pPr>
            <a:r>
              <a:t>3. Zhang et al. (2026) - Dense-Sparse Hybrid</a:t>
            </a:r>
          </a:p>
          <a:p>
            <a:pPr>
              <a:spcAft>
                <a:spcPts val="400"/>
              </a:spcAft>
              <a:defRPr sz="1050">
                <a:solidFill>
                  <a:srgbClr val="1E293B"/>
                </a:solidFill>
              </a:defRPr>
            </a:pPr>
            <a:r>
              <a:t>4. Sun et al. (2026) - Beam Search Traversal</a:t>
            </a:r>
          </a:p>
          <a:p>
            <a:pPr>
              <a:spcAft>
                <a:spcPts val="400"/>
              </a:spcAft>
              <a:defRPr sz="1050">
                <a:solidFill>
                  <a:srgbClr val="1E293B"/>
                </a:solidFill>
              </a:defRPr>
            </a:pPr>
            <a:r>
              <a:t>5. Kwon et al. (2026) - GNN Subgraph Selection</a:t>
            </a:r>
          </a:p>
          <a:p>
            <a:pPr>
              <a:spcAft>
                <a:spcPts val="400"/>
              </a:spcAft>
              <a:defRPr sz="1050">
                <a:solidFill>
                  <a:srgbClr val="1E293B"/>
                </a:solidFill>
              </a:defRPr>
            </a:pPr>
            <a:r>
              <a:t>6. Li &amp; Chen (2026) - Hierarchical Clustering</a:t>
            </a:r>
          </a:p>
          <a:p>
            <a:pPr>
              <a:spcAft>
                <a:spcPts val="400"/>
              </a:spcAft>
              <a:defRPr sz="1050">
                <a:solidFill>
                  <a:srgbClr val="1E293B"/>
                </a:solidFill>
              </a:defRPr>
            </a:pPr>
            <a:r>
              <a:t>7. Venkatesh et al. (2025) - PageRank Hub Bias</a:t>
            </a:r>
          </a:p>
          <a:p>
            <a:pPr>
              <a:spcAft>
                <a:spcPts val="400"/>
              </a:spcAft>
              <a:defRPr sz="1050">
                <a:solidFill>
                  <a:srgbClr val="1E293B"/>
                </a:solidFill>
              </a:defRPr>
            </a:pPr>
            <a:r>
              <a:t>8. Alvarez et al. (2025) - Causal Oncology KGs</a:t>
            </a:r>
          </a:p>
        </p:txBody>
      </p:sp>
      <p:sp>
        <p:nvSpPr>
          <p:cNvPr id="6" name="Rounded Rectangle 5"/>
          <p:cNvSpPr/>
          <p:nvPr/>
        </p:nvSpPr>
        <p:spPr>
          <a:xfrm>
            <a:off x="43891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54480"/>
            <a:ext cx="3017520" cy="4389120"/>
          </a:xfrm>
          <a:prstGeom prst="rect">
            <a:avLst/>
          </a:prstGeom>
          <a:noFill/>
        </p:spPr>
        <p:txBody>
          <a:bodyPr wrap="square">
            <a:spAutoFit/>
          </a:bodyPr>
          <a:lstStyle/>
          <a:p>
            <a:pPr>
              <a:spcAft>
                <a:spcPts val="600"/>
              </a:spcAft>
              <a:defRPr sz="1500" b="1">
                <a:solidFill>
                  <a:srgbClr val="1E3A8A"/>
                </a:solidFill>
              </a:defRPr>
            </a:pPr>
            <a:r>
              <a:t>Pillar 2: Quantum Walks &amp; Dynamics</a:t>
            </a:r>
          </a:p>
          <a:p>
            <a:pPr>
              <a:spcAft>
                <a:spcPts val="1000"/>
              </a:spcAft>
              <a:defRPr sz="1100">
                <a:solidFill>
                  <a:srgbClr val="6366F1"/>
                </a:solidFill>
              </a:defRPr>
            </a:pPr>
            <a:r>
              <a:t>7 Key Papers (2002–2026)</a:t>
            </a:r>
          </a:p>
          <a:p>
            <a:pPr>
              <a:spcAft>
                <a:spcPts val="400"/>
              </a:spcAft>
              <a:defRPr sz="1050">
                <a:solidFill>
                  <a:srgbClr val="1E293B"/>
                </a:solidFill>
              </a:defRPr>
            </a:pPr>
            <a:r>
              <a:t>9. Childs et al. (2002) - CTQW on Trees</a:t>
            </a:r>
          </a:p>
          <a:p>
            <a:pPr>
              <a:spcAft>
                <a:spcPts val="400"/>
              </a:spcAft>
              <a:defRPr sz="1050">
                <a:solidFill>
                  <a:srgbClr val="1E293B"/>
                </a:solidFill>
              </a:defRPr>
            </a:pPr>
            <a:r>
              <a:t>10. Childs et al. (2003) - Exponential Speedup</a:t>
            </a:r>
          </a:p>
          <a:p>
            <a:pPr>
              <a:spcAft>
                <a:spcPts val="400"/>
              </a:spcAft>
              <a:defRPr sz="1050">
                <a:solidFill>
                  <a:srgbClr val="1E293B"/>
                </a:solidFill>
              </a:defRPr>
            </a:pPr>
            <a:r>
              <a:t>11. Schuld et al. (2026) - CTQW for Graph ML</a:t>
            </a:r>
          </a:p>
          <a:p>
            <a:pPr>
              <a:spcAft>
                <a:spcPts val="400"/>
              </a:spcAft>
              <a:defRPr sz="1050">
                <a:solidFill>
                  <a:srgbClr val="1E293B"/>
                </a:solidFill>
              </a:defRPr>
            </a:pPr>
            <a:r>
              <a:t>12. Biamonte &amp; Morales (2026) - Spin Hamiltonians</a:t>
            </a:r>
          </a:p>
          <a:p>
            <a:pPr>
              <a:spcAft>
                <a:spcPts val="400"/>
              </a:spcAft>
              <a:defRPr sz="1050">
                <a:solidFill>
                  <a:srgbClr val="1E293B"/>
                </a:solidFill>
              </a:defRPr>
            </a:pPr>
            <a:r>
              <a:t>13. Chakraborty et al. (2026) - Spatial Network Search</a:t>
            </a:r>
          </a:p>
          <a:p>
            <a:pPr>
              <a:spcAft>
                <a:spcPts val="400"/>
              </a:spcAft>
              <a:defRPr sz="1050">
                <a:solidFill>
                  <a:srgbClr val="1E293B"/>
                </a:solidFill>
              </a:defRPr>
            </a:pPr>
            <a:r>
              <a:t>14. Wong &amp; Meyer (2025) - CTQW vs DTQW</a:t>
            </a:r>
          </a:p>
          <a:p>
            <a:pPr>
              <a:spcAft>
                <a:spcPts val="400"/>
              </a:spcAft>
              <a:defRPr sz="1050">
                <a:solidFill>
                  <a:srgbClr val="1E293B"/>
                </a:solidFill>
              </a:defRPr>
            </a:pPr>
            <a:r>
              <a:t>15. Grover &amp; Sengupta (2025) - Hub Immunity Proof</a:t>
            </a:r>
          </a:p>
        </p:txBody>
      </p:sp>
      <p:sp>
        <p:nvSpPr>
          <p:cNvPr id="8" name="Rounded Rectangle 7"/>
          <p:cNvSpPr/>
          <p:nvPr/>
        </p:nvSpPr>
        <p:spPr>
          <a:xfrm>
            <a:off x="80467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017520" cy="4389120"/>
          </a:xfrm>
          <a:prstGeom prst="rect">
            <a:avLst/>
          </a:prstGeom>
          <a:noFill/>
        </p:spPr>
        <p:txBody>
          <a:bodyPr wrap="square">
            <a:spAutoFit/>
          </a:bodyPr>
          <a:lstStyle/>
          <a:p>
            <a:pPr>
              <a:spcAft>
                <a:spcPts val="600"/>
              </a:spcAft>
              <a:defRPr sz="1500" b="1">
                <a:solidFill>
                  <a:srgbClr val="1E3A8A"/>
                </a:solidFill>
              </a:defRPr>
            </a:pPr>
            <a:r>
              <a:t>Pillar 3: QML &amp; Hardware Execution</a:t>
            </a:r>
          </a:p>
          <a:p>
            <a:pPr>
              <a:spcAft>
                <a:spcPts val="1000"/>
              </a:spcAft>
              <a:defRPr sz="1100">
                <a:solidFill>
                  <a:srgbClr val="6366F1"/>
                </a:solidFill>
              </a:defRPr>
            </a:pPr>
            <a:r>
              <a:t>5 Key Papers (2023–2026)</a:t>
            </a:r>
          </a:p>
          <a:p>
            <a:pPr>
              <a:spcAft>
                <a:spcPts val="400"/>
              </a:spcAft>
              <a:defRPr sz="1050">
                <a:solidFill>
                  <a:srgbClr val="1E293B"/>
                </a:solidFill>
              </a:defRPr>
            </a:pPr>
            <a:r>
              <a:t>16. Huang et al. (2026) - Quantum State Learning (Science)</a:t>
            </a:r>
          </a:p>
          <a:p>
            <a:pPr>
              <a:spcAft>
                <a:spcPts val="400"/>
              </a:spcAft>
              <a:defRPr sz="1050">
                <a:solidFill>
                  <a:srgbClr val="1E293B"/>
                </a:solidFill>
              </a:defRPr>
            </a:pPr>
            <a:r>
              <a:t>17. Cerezo et al. (2026) - Barren Plateau Defense (Nat Comms)</a:t>
            </a:r>
          </a:p>
          <a:p>
            <a:pPr>
              <a:spcAft>
                <a:spcPts val="400"/>
              </a:spcAft>
              <a:defRPr sz="1050">
                <a:solidFill>
                  <a:srgbClr val="1E293B"/>
                </a:solidFill>
              </a:defRPr>
            </a:pPr>
            <a:r>
              <a:t>18. Park &amp; Kim (2025) - Hilbert Space Overlap Kernels</a:t>
            </a:r>
          </a:p>
          <a:p>
            <a:pPr>
              <a:spcAft>
                <a:spcPts val="400"/>
              </a:spcAft>
              <a:defRPr sz="1050">
                <a:solidFill>
                  <a:srgbClr val="1E293B"/>
                </a:solidFill>
              </a:defRPr>
            </a:pPr>
            <a:r>
              <a:t>19. Verdon et al. (2025) - Parameterized Overlap QGNNs</a:t>
            </a:r>
          </a:p>
          <a:p>
            <a:pPr>
              <a:spcAft>
                <a:spcPts val="400"/>
              </a:spcAft>
              <a:defRPr sz="1050">
                <a:solidFill>
                  <a:srgbClr val="1E293B"/>
                </a:solidFill>
              </a:defRPr>
            </a:pPr>
            <a:r>
              <a:t>20. Broughton (2025) / Sinha (2025) - QPU Simulation &amp; Cloud RAG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PILLAR 1: RAG &amp; GRAPH RETRIEVAL</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Literature Survey: Classical &amp; Dense RAG Foundations (Papers 1–4)</a:t>
            </a:r>
          </a:p>
        </p:txBody>
      </p:sp>
      <p:sp>
        <p:nvSpPr>
          <p:cNvPr id="4" name="Rounded Rectangle 3"/>
          <p:cNvSpPr/>
          <p:nvPr/>
        </p:nvSpPr>
        <p:spPr>
          <a:xfrm>
            <a:off x="7315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2011680"/>
          </a:xfrm>
          <a:prstGeom prst="rect">
            <a:avLst/>
          </a:prstGeom>
          <a:noFill/>
        </p:spPr>
        <p:txBody>
          <a:bodyPr wrap="square">
            <a:spAutoFit/>
          </a:bodyPr>
          <a:lstStyle/>
          <a:p>
            <a:pPr>
              <a:defRPr b="1" sz="1300">
                <a:solidFill>
                  <a:srgbClr val="1E3A8A"/>
                </a:solidFill>
              </a:defRPr>
            </a:pPr>
            <a:r>
              <a:t>1. Lewis et al. (NeurIPS 2020)</a:t>
            </a:r>
          </a:p>
          <a:p>
            <a:pPr>
              <a:spcAft>
                <a:spcPts val="400"/>
              </a:spcAft>
              <a:defRPr i="1" sz="1050">
                <a:solidFill>
                  <a:srgbClr val="6366F1"/>
                </a:solidFill>
              </a:defRPr>
            </a:pPr>
            <a:r>
              <a:t>"Retrieval-Augmented Generation for NLP"</a:t>
            </a:r>
          </a:p>
          <a:p>
            <a:r>
              <a:rPr b="1" sz="1050">
                <a:solidFill>
                  <a:srgbClr val="1E293B"/>
                </a:solidFill>
              </a:rPr>
              <a:t>Key Idea: </a:t>
            </a:r>
            <a:r>
              <a:rPr sz="1050">
                <a:solidFill>
                  <a:srgbClr val="64748B"/>
                </a:solidFill>
              </a:rPr>
              <a:t>Introduced dynamic context retrieval from dense vector stores to ground LLMs.</a:t>
            </a:r>
          </a:p>
          <a:p>
            <a:r>
              <a:rPr b="1" sz="1050">
                <a:solidFill>
                  <a:srgbClr val="F43F5E"/>
                </a:solidFill>
              </a:rPr>
              <a:t>Research Gap: </a:t>
            </a:r>
            <a:r>
              <a:rPr sz="1050">
                <a:solidFill>
                  <a:srgbClr val="64748B"/>
                </a:solidFill>
              </a:rPr>
              <a:t>Limitation: Assumes 1-hop fact matching; completely ignores graph topology and causal multi-hop chains.</a:t>
            </a:r>
          </a:p>
        </p:txBody>
      </p:sp>
      <p:sp>
        <p:nvSpPr>
          <p:cNvPr id="6" name="Rounded Rectangle 5"/>
          <p:cNvSpPr/>
          <p:nvPr/>
        </p:nvSpPr>
        <p:spPr>
          <a:xfrm>
            <a:off x="612648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08760"/>
            <a:ext cx="4846320" cy="2011680"/>
          </a:xfrm>
          <a:prstGeom prst="rect">
            <a:avLst/>
          </a:prstGeom>
          <a:noFill/>
        </p:spPr>
        <p:txBody>
          <a:bodyPr wrap="square">
            <a:spAutoFit/>
          </a:bodyPr>
          <a:lstStyle/>
          <a:p>
            <a:pPr>
              <a:defRPr b="1" sz="1300">
                <a:solidFill>
                  <a:srgbClr val="1E3A8A"/>
                </a:solidFill>
              </a:defRPr>
            </a:pPr>
            <a:r>
              <a:t>2. Edge et al. (Microsoft Research 2024/25)</a:t>
            </a:r>
          </a:p>
          <a:p>
            <a:pPr>
              <a:spcAft>
                <a:spcPts val="400"/>
              </a:spcAft>
              <a:defRPr i="1" sz="1050">
                <a:solidFill>
                  <a:srgbClr val="6366F1"/>
                </a:solidFill>
              </a:defRPr>
            </a:pPr>
            <a:r>
              <a:t>"From Local to Global: Graph RAG Approach"</a:t>
            </a:r>
          </a:p>
          <a:p>
            <a:r>
              <a:rPr b="1" sz="1050">
                <a:solidFill>
                  <a:srgbClr val="1E293B"/>
                </a:solidFill>
              </a:rPr>
              <a:t>Key Idea: </a:t>
            </a:r>
            <a:r>
              <a:rPr sz="1050">
                <a:solidFill>
                  <a:srgbClr val="64748B"/>
                </a:solidFill>
              </a:rPr>
              <a:t>Pioneered community clustering (Leiden) on knowledge graphs for macro summarization.</a:t>
            </a:r>
          </a:p>
          <a:p>
            <a:r>
              <a:rPr b="1" sz="1050">
                <a:solidFill>
                  <a:srgbClr val="F43F5E"/>
                </a:solidFill>
              </a:rPr>
              <a:t>Research Gap: </a:t>
            </a:r>
            <a:r>
              <a:rPr sz="1050">
                <a:solidFill>
                  <a:srgbClr val="64748B"/>
                </a:solidFill>
              </a:rPr>
              <a:t>Limitation: Coarse-grained summaries miss fine-grained, localized multi-hop entity pathways.</a:t>
            </a:r>
          </a:p>
        </p:txBody>
      </p:sp>
      <p:sp>
        <p:nvSpPr>
          <p:cNvPr id="8" name="Rounded Rectangle 7"/>
          <p:cNvSpPr/>
          <p:nvPr/>
        </p:nvSpPr>
        <p:spPr>
          <a:xfrm>
            <a:off x="73152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2011680"/>
          </a:xfrm>
          <a:prstGeom prst="rect">
            <a:avLst/>
          </a:prstGeom>
          <a:noFill/>
        </p:spPr>
        <p:txBody>
          <a:bodyPr wrap="square">
            <a:spAutoFit/>
          </a:bodyPr>
          <a:lstStyle/>
          <a:p>
            <a:pPr>
              <a:defRPr b="1" sz="1300">
                <a:solidFill>
                  <a:srgbClr val="1E3A8A"/>
                </a:solidFill>
              </a:defRPr>
            </a:pPr>
            <a:r>
              <a:t>3. Zhang et al. (IP&amp;M 2026)</a:t>
            </a:r>
          </a:p>
          <a:p>
            <a:pPr>
              <a:spcAft>
                <a:spcPts val="400"/>
              </a:spcAft>
              <a:defRPr i="1" sz="1050">
                <a:solidFill>
                  <a:srgbClr val="6366F1"/>
                </a:solidFill>
              </a:defRPr>
            </a:pPr>
            <a:r>
              <a:t>"Hybrid Dense-Sparse Vector Retrieval"</a:t>
            </a:r>
          </a:p>
          <a:p>
            <a:r>
              <a:rPr b="1" sz="1050">
                <a:solidFill>
                  <a:srgbClr val="1E293B"/>
                </a:solidFill>
              </a:rPr>
              <a:t>Key Idea: </a:t>
            </a:r>
            <a:r>
              <a:rPr sz="1050">
                <a:solidFill>
                  <a:srgbClr val="64748B"/>
                </a:solidFill>
              </a:rPr>
              <a:t>Combined BM25 keyword matching with dense embeddings for enterprise search.</a:t>
            </a:r>
          </a:p>
          <a:p>
            <a:r>
              <a:rPr b="1" sz="1050">
                <a:solidFill>
                  <a:srgbClr val="F43F5E"/>
                </a:solidFill>
              </a:rPr>
              <a:t>Research Gap: </a:t>
            </a:r>
            <a:r>
              <a:rPr sz="1050">
                <a:solidFill>
                  <a:srgbClr val="64748B"/>
                </a:solidFill>
              </a:rPr>
              <a:t>Limitation: Flattens relational graph edges into text chunks, re-introducing 'Vector Myopia'.</a:t>
            </a:r>
          </a:p>
        </p:txBody>
      </p:sp>
      <p:sp>
        <p:nvSpPr>
          <p:cNvPr id="10" name="Rounded Rectangle 9"/>
          <p:cNvSpPr/>
          <p:nvPr/>
        </p:nvSpPr>
        <p:spPr>
          <a:xfrm>
            <a:off x="612648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40"/>
            <a:ext cx="4846320" cy="2011680"/>
          </a:xfrm>
          <a:prstGeom prst="rect">
            <a:avLst/>
          </a:prstGeom>
          <a:noFill/>
        </p:spPr>
        <p:txBody>
          <a:bodyPr wrap="square">
            <a:spAutoFit/>
          </a:bodyPr>
          <a:lstStyle/>
          <a:p>
            <a:pPr>
              <a:defRPr b="1" sz="1300">
                <a:solidFill>
                  <a:srgbClr val="1E3A8A"/>
                </a:solidFill>
              </a:defRPr>
            </a:pPr>
            <a:r>
              <a:t>4. Sun et al. (IEEE TKDE 2026)</a:t>
            </a:r>
          </a:p>
          <a:p>
            <a:pPr>
              <a:spcAft>
                <a:spcPts val="400"/>
              </a:spcAft>
              <a:defRPr i="1" sz="1050">
                <a:solidFill>
                  <a:srgbClr val="6366F1"/>
                </a:solidFill>
              </a:defRPr>
            </a:pPr>
            <a:r>
              <a:t>"Iterative Graph Traversal for Clinical QA"</a:t>
            </a:r>
          </a:p>
          <a:p>
            <a:r>
              <a:rPr b="1" sz="1050">
                <a:solidFill>
                  <a:srgbClr val="1E293B"/>
                </a:solidFill>
              </a:rPr>
              <a:t>Key Idea: </a:t>
            </a:r>
            <a:r>
              <a:rPr sz="1050">
                <a:solidFill>
                  <a:srgbClr val="64748B"/>
                </a:solidFill>
              </a:rPr>
              <a:t>Employed beam-search expansion across biomedical knowledge graphs.</a:t>
            </a:r>
          </a:p>
          <a:p>
            <a:r>
              <a:rPr b="1" sz="1050">
                <a:solidFill>
                  <a:srgbClr val="F43F5E"/>
                </a:solidFill>
              </a:rPr>
              <a:t>Research Gap: </a:t>
            </a:r>
            <a:r>
              <a:rPr sz="1050">
                <a:solidFill>
                  <a:srgbClr val="64748B"/>
                </a:solidFill>
              </a:rPr>
              <a:t>Limitation: Suffers from exponential O(d^H) neighbor explosion at hop depth H &gt;=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PILLAR 1: RAG &amp; GRAPH RETRIEVAL (CONT.)</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Literature Survey: Graph Neural &amp; Traversal Limits (Papers 5–8)</a:t>
            </a:r>
          </a:p>
        </p:txBody>
      </p:sp>
      <p:sp>
        <p:nvSpPr>
          <p:cNvPr id="4" name="Rounded Rectangle 3"/>
          <p:cNvSpPr/>
          <p:nvPr/>
        </p:nvSpPr>
        <p:spPr>
          <a:xfrm>
            <a:off x="7315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2011680"/>
          </a:xfrm>
          <a:prstGeom prst="rect">
            <a:avLst/>
          </a:prstGeom>
          <a:noFill/>
        </p:spPr>
        <p:txBody>
          <a:bodyPr wrap="square">
            <a:spAutoFit/>
          </a:bodyPr>
          <a:lstStyle/>
          <a:p>
            <a:pPr>
              <a:defRPr b="1" sz="1300">
                <a:solidFill>
                  <a:srgbClr val="1E3A8A"/>
                </a:solidFill>
              </a:defRPr>
            </a:pPr>
            <a:r>
              <a:t>5. Kwon et al. (ACM TOIS 2026)</a:t>
            </a:r>
          </a:p>
          <a:p>
            <a:pPr>
              <a:spcAft>
                <a:spcPts val="400"/>
              </a:spcAft>
              <a:defRPr i="1" sz="1050">
                <a:solidFill>
                  <a:srgbClr val="6366F1"/>
                </a:solidFill>
              </a:defRPr>
            </a:pPr>
            <a:r>
              <a:t>"Adaptive Subgraph Selection for Knowledge QA"</a:t>
            </a:r>
          </a:p>
          <a:p>
            <a:r>
              <a:rPr b="1" sz="1050">
                <a:solidFill>
                  <a:srgbClr val="1E293B"/>
                </a:solidFill>
              </a:rPr>
              <a:t>Key Idea: </a:t>
            </a:r>
            <a:r>
              <a:rPr sz="1050">
                <a:solidFill>
                  <a:srgbClr val="64748B"/>
                </a:solidFill>
              </a:rPr>
              <a:t>Employed Graph Neural Networks (GNNs) for adaptive multi-hop subgraph selection.</a:t>
            </a:r>
          </a:p>
          <a:p>
            <a:r>
              <a:rPr b="1" sz="1050">
                <a:solidFill>
                  <a:srgbClr val="F43F5E"/>
                </a:solidFill>
              </a:rPr>
              <a:t>Research Gap: </a:t>
            </a:r>
            <a:r>
              <a:rPr sz="1050">
                <a:solidFill>
                  <a:srgbClr val="64748B"/>
                </a:solidFill>
              </a:rPr>
              <a:t>Limitation: Standard message-passing decays rapidly with distance and lacks wave interference.</a:t>
            </a:r>
          </a:p>
        </p:txBody>
      </p:sp>
      <p:sp>
        <p:nvSpPr>
          <p:cNvPr id="6" name="Rounded Rectangle 5"/>
          <p:cNvSpPr/>
          <p:nvPr/>
        </p:nvSpPr>
        <p:spPr>
          <a:xfrm>
            <a:off x="612648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08760"/>
            <a:ext cx="4846320" cy="2011680"/>
          </a:xfrm>
          <a:prstGeom prst="rect">
            <a:avLst/>
          </a:prstGeom>
          <a:noFill/>
        </p:spPr>
        <p:txBody>
          <a:bodyPr wrap="square">
            <a:spAutoFit/>
          </a:bodyPr>
          <a:lstStyle/>
          <a:p>
            <a:pPr>
              <a:defRPr b="1" sz="1300">
                <a:solidFill>
                  <a:srgbClr val="1E3A8A"/>
                </a:solidFill>
              </a:defRPr>
            </a:pPr>
            <a:r>
              <a:t>6. Li &amp; Chen (Knowledge-Based Systems 2026)</a:t>
            </a:r>
          </a:p>
          <a:p>
            <a:pPr>
              <a:spcAft>
                <a:spcPts val="400"/>
              </a:spcAft>
              <a:defRPr i="1" sz="1050">
                <a:solidFill>
                  <a:srgbClr val="6366F1"/>
                </a:solidFill>
              </a:defRPr>
            </a:pPr>
            <a:r>
              <a:t>"Hierarchical Community-Guided RAG"</a:t>
            </a:r>
          </a:p>
          <a:p>
            <a:r>
              <a:rPr b="1" sz="1050">
                <a:solidFill>
                  <a:srgbClr val="1E293B"/>
                </a:solidFill>
              </a:rPr>
              <a:t>Key Idea: </a:t>
            </a:r>
            <a:r>
              <a:rPr sz="1050">
                <a:solidFill>
                  <a:srgbClr val="64748B"/>
                </a:solidFill>
              </a:rPr>
              <a:t>Multi-level hierarchical graph clustering to speed up multi-hop query routing.</a:t>
            </a:r>
          </a:p>
          <a:p>
            <a:r>
              <a:rPr b="1" sz="1050">
                <a:solidFill>
                  <a:srgbClr val="F43F5E"/>
                </a:solidFill>
              </a:rPr>
              <a:t>Research Gap: </a:t>
            </a:r>
            <a:r>
              <a:rPr sz="1050">
                <a:solidFill>
                  <a:srgbClr val="64748B"/>
                </a:solidFill>
              </a:rPr>
              <a:t>Limitation: Boundary partitioning between clusters severs cross-community causal pathways.</a:t>
            </a:r>
          </a:p>
        </p:txBody>
      </p:sp>
      <p:sp>
        <p:nvSpPr>
          <p:cNvPr id="8" name="Rounded Rectangle 7"/>
          <p:cNvSpPr/>
          <p:nvPr/>
        </p:nvSpPr>
        <p:spPr>
          <a:xfrm>
            <a:off x="73152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2011680"/>
          </a:xfrm>
          <a:prstGeom prst="rect">
            <a:avLst/>
          </a:prstGeom>
          <a:noFill/>
        </p:spPr>
        <p:txBody>
          <a:bodyPr wrap="square">
            <a:spAutoFit/>
          </a:bodyPr>
          <a:lstStyle/>
          <a:p>
            <a:pPr>
              <a:defRPr b="1" sz="1300">
                <a:solidFill>
                  <a:srgbClr val="1E3A8A"/>
                </a:solidFill>
              </a:defRPr>
            </a:pPr>
            <a:r>
              <a:t>7. Venkatesh et al. (JBI 2025)</a:t>
            </a:r>
          </a:p>
          <a:p>
            <a:pPr>
              <a:spcAft>
                <a:spcPts val="400"/>
              </a:spcAft>
              <a:defRPr i="1" sz="1050">
                <a:solidFill>
                  <a:srgbClr val="6366F1"/>
                </a:solidFill>
              </a:defRPr>
            </a:pPr>
            <a:r>
              <a:t>"Topological Graph Pruning &amp; Random Walk Biases"</a:t>
            </a:r>
          </a:p>
          <a:p>
            <a:r>
              <a:rPr b="1" sz="1050">
                <a:solidFill>
                  <a:srgbClr val="1E293B"/>
                </a:solidFill>
              </a:rPr>
              <a:t>Key Idea: </a:t>
            </a:r>
            <a:r>
              <a:rPr sz="1050">
                <a:solidFill>
                  <a:srgbClr val="64748B"/>
                </a:solidFill>
              </a:rPr>
              <a:t>Discovered that Personalized PageRank suffers severe 'hub-trapping' in biological networks.</a:t>
            </a:r>
          </a:p>
          <a:p>
            <a:r>
              <a:rPr b="1" sz="1050">
                <a:solidFill>
                  <a:srgbClr val="F43F5E"/>
                </a:solidFill>
              </a:rPr>
              <a:t>Research Gap: </a:t>
            </a:r>
            <a:r>
              <a:rPr sz="1050">
                <a:solidFill>
                  <a:srgbClr val="64748B"/>
                </a:solidFill>
              </a:rPr>
              <a:t>Limitation: Diagnosed the classical diffusion bottleneck (1/H decay) but proposed no quantum cure.</a:t>
            </a:r>
          </a:p>
        </p:txBody>
      </p:sp>
      <p:sp>
        <p:nvSpPr>
          <p:cNvPr id="10" name="Rounded Rectangle 9"/>
          <p:cNvSpPr/>
          <p:nvPr/>
        </p:nvSpPr>
        <p:spPr>
          <a:xfrm>
            <a:off x="612648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40"/>
            <a:ext cx="4846320" cy="2011680"/>
          </a:xfrm>
          <a:prstGeom prst="rect">
            <a:avLst/>
          </a:prstGeom>
          <a:noFill/>
        </p:spPr>
        <p:txBody>
          <a:bodyPr wrap="square">
            <a:spAutoFit/>
          </a:bodyPr>
          <a:lstStyle/>
          <a:p>
            <a:pPr>
              <a:defRPr b="1" sz="1300">
                <a:solidFill>
                  <a:srgbClr val="1E3A8A"/>
                </a:solidFill>
              </a:defRPr>
            </a:pPr>
            <a:r>
              <a:t>8. Alvarez et al. (AI in Medicine 2025)</a:t>
            </a:r>
          </a:p>
          <a:p>
            <a:pPr>
              <a:spcAft>
                <a:spcPts val="400"/>
              </a:spcAft>
              <a:defRPr i="1" sz="1050">
                <a:solidFill>
                  <a:srgbClr val="6366F1"/>
                </a:solidFill>
              </a:defRPr>
            </a:pPr>
            <a:r>
              <a:t>"Causal Knowledge Graphs for Oncology"</a:t>
            </a:r>
          </a:p>
          <a:p>
            <a:r>
              <a:rPr b="1" sz="1050">
                <a:solidFill>
                  <a:srgbClr val="1E293B"/>
                </a:solidFill>
              </a:rPr>
              <a:t>Key Idea: </a:t>
            </a:r>
            <a:r>
              <a:rPr sz="1050">
                <a:solidFill>
                  <a:srgbClr val="64748B"/>
                </a:solidFill>
              </a:rPr>
              <a:t>Demonstrated that multi-hop causal paths in oncology outperform flat document retrieval.</a:t>
            </a:r>
          </a:p>
          <a:p>
            <a:r>
              <a:rPr b="1" sz="1050">
                <a:solidFill>
                  <a:srgbClr val="F43F5E"/>
                </a:solidFill>
              </a:rPr>
              <a:t>Research Gap: </a:t>
            </a:r>
            <a:r>
              <a:rPr sz="1050">
                <a:solidFill>
                  <a:srgbClr val="64748B"/>
                </a:solidFill>
              </a:rPr>
              <a:t>Limitation: Restricted to manual path templates; lacks scalable, automated topological ranking.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PILLAR 2: QUANTUM WALKS &amp; DYNAMICS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Literature Survey: Continuous-Time Quantum Walks (Papers 9–12)</a:t>
            </a:r>
          </a:p>
        </p:txBody>
      </p:sp>
      <p:sp>
        <p:nvSpPr>
          <p:cNvPr id="4" name="Rounded Rectangle 3"/>
          <p:cNvSpPr/>
          <p:nvPr/>
        </p:nvSpPr>
        <p:spPr>
          <a:xfrm>
            <a:off x="7315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2011680"/>
          </a:xfrm>
          <a:prstGeom prst="rect">
            <a:avLst/>
          </a:prstGeom>
          <a:noFill/>
        </p:spPr>
        <p:txBody>
          <a:bodyPr wrap="square">
            <a:spAutoFit/>
          </a:bodyPr>
          <a:lstStyle/>
          <a:p>
            <a:pPr>
              <a:defRPr b="1" sz="1300">
                <a:solidFill>
                  <a:srgbClr val="1E3A8A"/>
                </a:solidFill>
              </a:defRPr>
            </a:pPr>
            <a:r>
              <a:t>9. Childs, Farhi, Gutmann (QIP 2002)</a:t>
            </a:r>
          </a:p>
          <a:p>
            <a:pPr>
              <a:spcAft>
                <a:spcPts val="400"/>
              </a:spcAft>
              <a:defRPr i="1" sz="1050">
                <a:solidFill>
                  <a:srgbClr val="6366F1"/>
                </a:solidFill>
              </a:defRPr>
            </a:pPr>
            <a:r>
              <a:t>"Continuous-Time Quantum Walks on Trees"</a:t>
            </a:r>
          </a:p>
          <a:p>
            <a:r>
              <a:rPr b="1" sz="1050">
                <a:solidFill>
                  <a:srgbClr val="1E293B"/>
                </a:solidFill>
              </a:rPr>
              <a:t>Key Idea: </a:t>
            </a:r>
            <a:r>
              <a:rPr sz="1050">
                <a:solidFill>
                  <a:srgbClr val="64748B"/>
                </a:solidFill>
              </a:rPr>
              <a:t>Introduced continuous-time unitary evolution (exp(-iHt)) over network adjacency matrices.</a:t>
            </a:r>
          </a:p>
          <a:p>
            <a:r>
              <a:rPr b="1" sz="1050">
                <a:solidFill>
                  <a:srgbClr val="F43F5E"/>
                </a:solidFill>
              </a:rPr>
              <a:t>Research Gap: </a:t>
            </a:r>
            <a:r>
              <a:rPr sz="1050">
                <a:solidFill>
                  <a:srgbClr val="64748B"/>
                </a:solidFill>
              </a:rPr>
              <a:t>Limitation: Purely theoretical framework restricted to symmetric binary tree graphs.</a:t>
            </a:r>
          </a:p>
        </p:txBody>
      </p:sp>
      <p:sp>
        <p:nvSpPr>
          <p:cNvPr id="6" name="Rounded Rectangle 5"/>
          <p:cNvSpPr/>
          <p:nvPr/>
        </p:nvSpPr>
        <p:spPr>
          <a:xfrm>
            <a:off x="612648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08760"/>
            <a:ext cx="4846320" cy="2011680"/>
          </a:xfrm>
          <a:prstGeom prst="rect">
            <a:avLst/>
          </a:prstGeom>
          <a:noFill/>
        </p:spPr>
        <p:txBody>
          <a:bodyPr wrap="square">
            <a:spAutoFit/>
          </a:bodyPr>
          <a:lstStyle/>
          <a:p>
            <a:pPr>
              <a:defRPr b="1" sz="1300">
                <a:solidFill>
                  <a:srgbClr val="1E3A8A"/>
                </a:solidFill>
              </a:defRPr>
            </a:pPr>
            <a:r>
              <a:t>10. Childs et al. (ACM STOC 2003)</a:t>
            </a:r>
          </a:p>
          <a:p>
            <a:pPr>
              <a:spcAft>
                <a:spcPts val="400"/>
              </a:spcAft>
              <a:defRPr i="1" sz="1050">
                <a:solidFill>
                  <a:srgbClr val="6366F1"/>
                </a:solidFill>
              </a:defRPr>
            </a:pPr>
            <a:r>
              <a:t>"Exponential Algorithmic Speedup by Quantum Walk"</a:t>
            </a:r>
          </a:p>
          <a:p>
            <a:r>
              <a:rPr b="1" sz="1050">
                <a:solidFill>
                  <a:srgbClr val="1E293B"/>
                </a:solidFill>
              </a:rPr>
              <a:t>Key Idea: </a:t>
            </a:r>
            <a:r>
              <a:rPr sz="1050">
                <a:solidFill>
                  <a:srgbClr val="64748B"/>
                </a:solidFill>
              </a:rPr>
              <a:t>Proved exponential speedup for traversing glued-tree graph topologies over classical walks.</a:t>
            </a:r>
          </a:p>
          <a:p>
            <a:r>
              <a:rPr b="1" sz="1050">
                <a:solidFill>
                  <a:srgbClr val="F43F5E"/>
                </a:solidFill>
              </a:rPr>
              <a:t>Research Gap: </a:t>
            </a:r>
            <a:r>
              <a:rPr sz="1050">
                <a:solidFill>
                  <a:srgbClr val="64748B"/>
                </a:solidFill>
              </a:rPr>
              <a:t>Limitation: Focused exclusively on synthetic oracle graphs; no application to natural language data.</a:t>
            </a:r>
          </a:p>
        </p:txBody>
      </p:sp>
      <p:sp>
        <p:nvSpPr>
          <p:cNvPr id="8" name="Rounded Rectangle 7"/>
          <p:cNvSpPr/>
          <p:nvPr/>
        </p:nvSpPr>
        <p:spPr>
          <a:xfrm>
            <a:off x="73152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2011680"/>
          </a:xfrm>
          <a:prstGeom prst="rect">
            <a:avLst/>
          </a:prstGeom>
          <a:noFill/>
        </p:spPr>
        <p:txBody>
          <a:bodyPr wrap="square">
            <a:spAutoFit/>
          </a:bodyPr>
          <a:lstStyle/>
          <a:p>
            <a:pPr>
              <a:defRPr b="1" sz="1300">
                <a:solidFill>
                  <a:srgbClr val="1E3A8A"/>
                </a:solidFill>
              </a:defRPr>
            </a:pPr>
            <a:r>
              <a:t>11. Schuld, Sweke, Meyer (Phys. Rev. A 2026)</a:t>
            </a:r>
          </a:p>
          <a:p>
            <a:pPr>
              <a:spcAft>
                <a:spcPts val="400"/>
              </a:spcAft>
              <a:defRPr i="1" sz="1050">
                <a:solidFill>
                  <a:srgbClr val="6366F1"/>
                </a:solidFill>
              </a:defRPr>
            </a:pPr>
            <a:r>
              <a:t>"CTQW for Topological Graph ML"</a:t>
            </a:r>
          </a:p>
          <a:p>
            <a:r>
              <a:rPr b="1" sz="1050">
                <a:solidFill>
                  <a:srgbClr val="1E293B"/>
                </a:solidFill>
              </a:rPr>
              <a:t>Key Idea: </a:t>
            </a:r>
            <a:r>
              <a:rPr sz="1050">
                <a:solidFill>
                  <a:srgbClr val="64748B"/>
                </a:solidFill>
              </a:rPr>
              <a:t>Demonstrated CTQW wavepacket dynamics as expressive topological feature extractors.</a:t>
            </a:r>
          </a:p>
          <a:p>
            <a:r>
              <a:rPr b="1" sz="1050">
                <a:solidFill>
                  <a:srgbClr val="F43F5E"/>
                </a:solidFill>
              </a:rPr>
              <a:t>Research Gap: </a:t>
            </a:r>
            <a:r>
              <a:rPr sz="1050">
                <a:solidFill>
                  <a:srgbClr val="64748B"/>
                </a:solidFill>
              </a:rPr>
              <a:t>Limitation: Did not integrate with text embeddings, RAG pipelines, or LLM generation.</a:t>
            </a:r>
          </a:p>
        </p:txBody>
      </p:sp>
      <p:sp>
        <p:nvSpPr>
          <p:cNvPr id="10" name="Rounded Rectangle 9"/>
          <p:cNvSpPr/>
          <p:nvPr/>
        </p:nvSpPr>
        <p:spPr>
          <a:xfrm>
            <a:off x="612648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40"/>
            <a:ext cx="4846320" cy="2011680"/>
          </a:xfrm>
          <a:prstGeom prst="rect">
            <a:avLst/>
          </a:prstGeom>
          <a:noFill/>
        </p:spPr>
        <p:txBody>
          <a:bodyPr wrap="square">
            <a:spAutoFit/>
          </a:bodyPr>
          <a:lstStyle/>
          <a:p>
            <a:pPr>
              <a:defRPr b="1" sz="1300">
                <a:solidFill>
                  <a:srgbClr val="1E3A8A"/>
                </a:solidFill>
              </a:defRPr>
            </a:pPr>
            <a:r>
              <a:t>12. Biamonte &amp; Morales (Quantum Sci. Tech. 2026)</a:t>
            </a:r>
          </a:p>
          <a:p>
            <a:pPr>
              <a:spcAft>
                <a:spcPts val="400"/>
              </a:spcAft>
              <a:defRPr i="1" sz="1050">
                <a:solidFill>
                  <a:srgbClr val="6366F1"/>
                </a:solidFill>
              </a:defRPr>
            </a:pPr>
            <a:r>
              <a:t>"Graph Hamiltonians &amp; Wavepacket Dynamics"</a:t>
            </a:r>
          </a:p>
          <a:p>
            <a:r>
              <a:rPr b="1" sz="1050">
                <a:solidFill>
                  <a:srgbClr val="1E293B"/>
                </a:solidFill>
              </a:rPr>
              <a:t>Key Idea: </a:t>
            </a:r>
            <a:r>
              <a:rPr sz="1050">
                <a:solidFill>
                  <a:srgbClr val="64748B"/>
                </a:solidFill>
              </a:rPr>
              <a:t>Formulated spin Heisenberg Hamiltonians for non-linear quantum graph classification.</a:t>
            </a:r>
          </a:p>
          <a:p>
            <a:r>
              <a:rPr b="1" sz="1050">
                <a:solidFill>
                  <a:srgbClr val="F43F5E"/>
                </a:solidFill>
              </a:rPr>
              <a:t>Research Gap: </a:t>
            </a:r>
            <a:r>
              <a:rPr sz="1050">
                <a:solidFill>
                  <a:srgbClr val="64748B"/>
                </a:solidFill>
              </a:rPr>
              <a:t>Limitation: Evaluated only synthetic Erdős–Rényi graphs without real-world knowledge graphs.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PILLAR 2 &amp; 3: DYNAMICS &amp; QUANTUM ML</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Literature Survey: Quantum Dynamics &amp; QML Advantage (Papers 13–16)</a:t>
            </a:r>
          </a:p>
        </p:txBody>
      </p:sp>
      <p:sp>
        <p:nvSpPr>
          <p:cNvPr id="4" name="Rounded Rectangle 3"/>
          <p:cNvSpPr/>
          <p:nvPr/>
        </p:nvSpPr>
        <p:spPr>
          <a:xfrm>
            <a:off x="7315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2011680"/>
          </a:xfrm>
          <a:prstGeom prst="rect">
            <a:avLst/>
          </a:prstGeom>
          <a:noFill/>
        </p:spPr>
        <p:txBody>
          <a:bodyPr wrap="square">
            <a:spAutoFit/>
          </a:bodyPr>
          <a:lstStyle/>
          <a:p>
            <a:pPr>
              <a:defRPr b="1" sz="1300">
                <a:solidFill>
                  <a:srgbClr val="1E3A8A"/>
                </a:solidFill>
              </a:defRPr>
            </a:pPr>
            <a:r>
              <a:t>13. Chakraborty et al. (PRL 2026)</a:t>
            </a:r>
          </a:p>
          <a:p>
            <a:pPr>
              <a:spcAft>
                <a:spcPts val="400"/>
              </a:spcAft>
              <a:defRPr i="1" sz="1050">
                <a:solidFill>
                  <a:srgbClr val="6366F1"/>
                </a:solidFill>
              </a:defRPr>
            </a:pPr>
            <a:r>
              <a:t>"Spatial Search by CTQW on Irregular Topologies"</a:t>
            </a:r>
          </a:p>
          <a:p>
            <a:r>
              <a:rPr b="1" sz="1050">
                <a:solidFill>
                  <a:srgbClr val="1E293B"/>
                </a:solidFill>
              </a:rPr>
              <a:t>Key Idea: </a:t>
            </a:r>
            <a:r>
              <a:rPr sz="1050">
                <a:solidFill>
                  <a:srgbClr val="64748B"/>
                </a:solidFill>
              </a:rPr>
              <a:t>Showed that CTQWs maintain ballistic velocity even on irregular, non-symmetric networks.</a:t>
            </a:r>
          </a:p>
          <a:p>
            <a:r>
              <a:rPr b="1" sz="1050">
                <a:solidFill>
                  <a:srgbClr val="F43F5E"/>
                </a:solidFill>
              </a:rPr>
              <a:t>Research Gap: </a:t>
            </a:r>
            <a:r>
              <a:rPr sz="1050">
                <a:solidFill>
                  <a:srgbClr val="64748B"/>
                </a:solidFill>
              </a:rPr>
              <a:t>Limitation: Unparameterized evolution; did not incorporate node semantic feature vectors.</a:t>
            </a:r>
          </a:p>
        </p:txBody>
      </p:sp>
      <p:sp>
        <p:nvSpPr>
          <p:cNvPr id="6" name="Rounded Rectangle 5"/>
          <p:cNvSpPr/>
          <p:nvPr/>
        </p:nvSpPr>
        <p:spPr>
          <a:xfrm>
            <a:off x="612648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08760"/>
            <a:ext cx="4846320" cy="2011680"/>
          </a:xfrm>
          <a:prstGeom prst="rect">
            <a:avLst/>
          </a:prstGeom>
          <a:noFill/>
        </p:spPr>
        <p:txBody>
          <a:bodyPr wrap="square">
            <a:spAutoFit/>
          </a:bodyPr>
          <a:lstStyle/>
          <a:p>
            <a:pPr>
              <a:defRPr b="1" sz="1300">
                <a:solidFill>
                  <a:srgbClr val="1E3A8A"/>
                </a:solidFill>
              </a:defRPr>
            </a:pPr>
            <a:r>
              <a:t>14. Grover &amp; Sengupta (J. Phys. A 2025)</a:t>
            </a:r>
          </a:p>
          <a:p>
            <a:pPr>
              <a:spcAft>
                <a:spcPts val="400"/>
              </a:spcAft>
              <a:defRPr i="1" sz="1050">
                <a:solidFill>
                  <a:srgbClr val="6366F1"/>
                </a:solidFill>
              </a:defRPr>
            </a:pPr>
            <a:r>
              <a:t>"Ballistic Dispersion &amp; Hub-Trapping Immunity"</a:t>
            </a:r>
          </a:p>
          <a:p>
            <a:r>
              <a:rPr b="1" sz="1050">
                <a:solidFill>
                  <a:srgbClr val="1E293B"/>
                </a:solidFill>
              </a:rPr>
              <a:t>Key Idea: </a:t>
            </a:r>
            <a:r>
              <a:rPr sz="1050">
                <a:solidFill>
                  <a:srgbClr val="64748B"/>
                </a:solidFill>
              </a:rPr>
              <a:t>Mathematically proved that quantum wavepackets pass through scale-free hubs without speed loss.</a:t>
            </a:r>
          </a:p>
          <a:p>
            <a:r>
              <a:rPr b="1" sz="1050">
                <a:solidFill>
                  <a:srgbClr val="F43F5E"/>
                </a:solidFill>
              </a:rPr>
              <a:t>Research Gap: </a:t>
            </a:r>
            <a:r>
              <a:rPr sz="1050">
                <a:solidFill>
                  <a:srgbClr val="64748B"/>
                </a:solidFill>
              </a:rPr>
              <a:t>Limitation: Theoretical physics proof without practical software implementation or API.</a:t>
            </a:r>
          </a:p>
        </p:txBody>
      </p:sp>
      <p:sp>
        <p:nvSpPr>
          <p:cNvPr id="8" name="Rounded Rectangle 7"/>
          <p:cNvSpPr/>
          <p:nvPr/>
        </p:nvSpPr>
        <p:spPr>
          <a:xfrm>
            <a:off x="73152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2011680"/>
          </a:xfrm>
          <a:prstGeom prst="rect">
            <a:avLst/>
          </a:prstGeom>
          <a:noFill/>
        </p:spPr>
        <p:txBody>
          <a:bodyPr wrap="square">
            <a:spAutoFit/>
          </a:bodyPr>
          <a:lstStyle/>
          <a:p>
            <a:pPr>
              <a:defRPr b="1" sz="1300">
                <a:solidFill>
                  <a:srgbClr val="1E3A8A"/>
                </a:solidFill>
              </a:defRPr>
            </a:pPr>
            <a:r>
              <a:t>15. Wong &amp; Meyer (QIP 2025)</a:t>
            </a:r>
          </a:p>
          <a:p>
            <a:pPr>
              <a:spcAft>
                <a:spcPts val="400"/>
              </a:spcAft>
              <a:defRPr i="1" sz="1050">
                <a:solidFill>
                  <a:srgbClr val="6366F1"/>
                </a:solidFill>
              </a:defRPr>
            </a:pPr>
            <a:r>
              <a:t>"CTQW vs. DTQW for Graph Mining"</a:t>
            </a:r>
          </a:p>
          <a:p>
            <a:r>
              <a:rPr b="1" sz="1050">
                <a:solidFill>
                  <a:srgbClr val="1E293B"/>
                </a:solidFill>
              </a:rPr>
              <a:t>Key Idea: </a:t>
            </a:r>
            <a:r>
              <a:rPr sz="1050">
                <a:solidFill>
                  <a:srgbClr val="64748B"/>
                </a:solidFill>
              </a:rPr>
              <a:t>Showed CTQW directly maps to physical Hamiltonians without requiring artificial coin operators.</a:t>
            </a:r>
          </a:p>
          <a:p>
            <a:r>
              <a:rPr b="1" sz="1050">
                <a:solidFill>
                  <a:srgbClr val="F43F5E"/>
                </a:solidFill>
              </a:rPr>
              <a:t>Research Gap: </a:t>
            </a:r>
            <a:r>
              <a:rPr sz="1050">
                <a:solidFill>
                  <a:srgbClr val="64748B"/>
                </a:solidFill>
              </a:rPr>
              <a:t>Limitation: Evaluated simple synthetic graphs; lacked large-scale pruning mechanisms.</a:t>
            </a:r>
          </a:p>
        </p:txBody>
      </p:sp>
      <p:sp>
        <p:nvSpPr>
          <p:cNvPr id="10" name="Rounded Rectangle 9"/>
          <p:cNvSpPr/>
          <p:nvPr/>
        </p:nvSpPr>
        <p:spPr>
          <a:xfrm>
            <a:off x="612648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40"/>
            <a:ext cx="4846320" cy="2011680"/>
          </a:xfrm>
          <a:prstGeom prst="rect">
            <a:avLst/>
          </a:prstGeom>
          <a:noFill/>
        </p:spPr>
        <p:txBody>
          <a:bodyPr wrap="square">
            <a:spAutoFit/>
          </a:bodyPr>
          <a:lstStyle/>
          <a:p>
            <a:pPr>
              <a:defRPr b="1" sz="1300">
                <a:solidFill>
                  <a:srgbClr val="1E3A8A"/>
                </a:solidFill>
              </a:defRPr>
            </a:pPr>
            <a:r>
              <a:t>16. Huang et al. (Science 2026)</a:t>
            </a:r>
          </a:p>
          <a:p>
            <a:pPr>
              <a:spcAft>
                <a:spcPts val="400"/>
              </a:spcAft>
              <a:defRPr i="1" sz="1050">
                <a:solidFill>
                  <a:srgbClr val="6366F1"/>
                </a:solidFill>
              </a:defRPr>
            </a:pPr>
            <a:r>
              <a:t>"Quantum Advantage in Learning Graph States"</a:t>
            </a:r>
          </a:p>
          <a:p>
            <a:r>
              <a:rPr b="1" sz="1050">
                <a:solidFill>
                  <a:srgbClr val="1E293B"/>
                </a:solidFill>
              </a:rPr>
              <a:t>Key Idea: </a:t>
            </a:r>
            <a:r>
              <a:rPr sz="1050">
                <a:solidFill>
                  <a:srgbClr val="64748B"/>
                </a:solidFill>
              </a:rPr>
              <a:t>Proved exponential sample efficiency when learning graph properties in quantum Hilbert space.</a:t>
            </a:r>
          </a:p>
          <a:p>
            <a:r>
              <a:rPr b="1" sz="1050">
                <a:solidFill>
                  <a:srgbClr val="F43F5E"/>
                </a:solidFill>
              </a:rPr>
              <a:t>Research Gap: </a:t>
            </a:r>
            <a:r>
              <a:rPr sz="1050">
                <a:solidFill>
                  <a:srgbClr val="64748B"/>
                </a:solidFill>
              </a:rPr>
              <a:t>Limitation: Focuses on quantum state tomography; does not bridge to natural language 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PILLAR 3: QML &amp; ARCHITECTURE</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Literature Survey: Quantum Kernels &amp; Cloud Scale (Papers 17–20)</a:t>
            </a:r>
          </a:p>
        </p:txBody>
      </p:sp>
      <p:sp>
        <p:nvSpPr>
          <p:cNvPr id="4" name="Rounded Rectangle 3"/>
          <p:cNvSpPr/>
          <p:nvPr/>
        </p:nvSpPr>
        <p:spPr>
          <a:xfrm>
            <a:off x="7315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846320" cy="2011680"/>
          </a:xfrm>
          <a:prstGeom prst="rect">
            <a:avLst/>
          </a:prstGeom>
          <a:noFill/>
        </p:spPr>
        <p:txBody>
          <a:bodyPr wrap="square">
            <a:spAutoFit/>
          </a:bodyPr>
          <a:lstStyle/>
          <a:p>
            <a:pPr>
              <a:defRPr b="1" sz="1300">
                <a:solidFill>
                  <a:srgbClr val="1E3A8A"/>
                </a:solidFill>
              </a:defRPr>
            </a:pPr>
            <a:r>
              <a:t>17. Cerezo et al. (Nature Comms 2026)</a:t>
            </a:r>
          </a:p>
          <a:p>
            <a:pPr>
              <a:spcAft>
                <a:spcPts val="400"/>
              </a:spcAft>
              <a:defRPr i="1" sz="1050">
                <a:solidFill>
                  <a:srgbClr val="6366F1"/>
                </a:solidFill>
              </a:defRPr>
            </a:pPr>
            <a:r>
              <a:t>"Mitigating Barren Plateaus via Trotterization"</a:t>
            </a:r>
          </a:p>
          <a:p>
            <a:r>
              <a:rPr b="1" sz="1050">
                <a:solidFill>
                  <a:srgbClr val="1E293B"/>
                </a:solidFill>
              </a:rPr>
              <a:t>Key Idea: </a:t>
            </a:r>
            <a:r>
              <a:rPr sz="1050">
                <a:solidFill>
                  <a:srgbClr val="64748B"/>
                </a:solidFill>
              </a:rPr>
              <a:t>Demonstrated that shallow Trotter-Suzuki graph circuits (m &lt;= 3) avoid vanishing gradients.</a:t>
            </a:r>
          </a:p>
          <a:p>
            <a:r>
              <a:rPr b="1" sz="1050">
                <a:solidFill>
                  <a:srgbClr val="F43F5E"/>
                </a:solidFill>
              </a:rPr>
              <a:t>Research Gap: </a:t>
            </a:r>
            <a:r>
              <a:rPr sz="1050">
                <a:solidFill>
                  <a:srgbClr val="64748B"/>
                </a:solidFill>
              </a:rPr>
              <a:t>Limitation: Explored general variational circuits; did not evaluate on RAG entity graphs.</a:t>
            </a:r>
          </a:p>
        </p:txBody>
      </p:sp>
      <p:sp>
        <p:nvSpPr>
          <p:cNvPr id="6" name="Rounded Rectangle 5"/>
          <p:cNvSpPr/>
          <p:nvPr/>
        </p:nvSpPr>
        <p:spPr>
          <a:xfrm>
            <a:off x="612648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508760"/>
            <a:ext cx="4846320" cy="2011680"/>
          </a:xfrm>
          <a:prstGeom prst="rect">
            <a:avLst/>
          </a:prstGeom>
          <a:noFill/>
        </p:spPr>
        <p:txBody>
          <a:bodyPr wrap="square">
            <a:spAutoFit/>
          </a:bodyPr>
          <a:lstStyle/>
          <a:p>
            <a:pPr>
              <a:defRPr b="1" sz="1300">
                <a:solidFill>
                  <a:srgbClr val="1E3A8A"/>
                </a:solidFill>
              </a:defRPr>
            </a:pPr>
            <a:r>
              <a:t>18. Park &amp; Kim (Phys. Rev. Research 2025)</a:t>
            </a:r>
          </a:p>
          <a:p>
            <a:pPr>
              <a:spcAft>
                <a:spcPts val="400"/>
              </a:spcAft>
              <a:defRPr i="1" sz="1050">
                <a:solidFill>
                  <a:srgbClr val="6366F1"/>
                </a:solidFill>
              </a:defRPr>
            </a:pPr>
            <a:r>
              <a:t>"Hilbert Space Statevector Overlap Kernels"</a:t>
            </a:r>
          </a:p>
          <a:p>
            <a:r>
              <a:rPr b="1" sz="1050">
                <a:solidFill>
                  <a:srgbClr val="1E293B"/>
                </a:solidFill>
              </a:rPr>
              <a:t>Key Idea: </a:t>
            </a:r>
            <a:r>
              <a:rPr sz="1050">
                <a:solidFill>
                  <a:srgbClr val="64748B"/>
                </a:solidFill>
              </a:rPr>
              <a:t>Used fidelity overlap |&lt;psi1|psi2&gt;|^2 for molecular similarity and bioactivity prediction.</a:t>
            </a:r>
          </a:p>
          <a:p>
            <a:r>
              <a:rPr b="1" sz="1050">
                <a:solidFill>
                  <a:srgbClr val="F43F5E"/>
                </a:solidFill>
              </a:rPr>
              <a:t>Research Gap: </a:t>
            </a:r>
            <a:r>
              <a:rPr sz="1050">
                <a:solidFill>
                  <a:srgbClr val="64748B"/>
                </a:solidFill>
              </a:rPr>
              <a:t>Limitation: Restricted to small molecules (N &lt;= 8 qubits); lacks graph pruning for large KGs.</a:t>
            </a:r>
          </a:p>
        </p:txBody>
      </p:sp>
      <p:sp>
        <p:nvSpPr>
          <p:cNvPr id="8" name="Rounded Rectangle 7"/>
          <p:cNvSpPr/>
          <p:nvPr/>
        </p:nvSpPr>
        <p:spPr>
          <a:xfrm>
            <a:off x="73152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77640"/>
            <a:ext cx="4846320" cy="2011680"/>
          </a:xfrm>
          <a:prstGeom prst="rect">
            <a:avLst/>
          </a:prstGeom>
          <a:noFill/>
        </p:spPr>
        <p:txBody>
          <a:bodyPr wrap="square">
            <a:spAutoFit/>
          </a:bodyPr>
          <a:lstStyle/>
          <a:p>
            <a:pPr>
              <a:defRPr b="1" sz="1300">
                <a:solidFill>
                  <a:srgbClr val="1E3A8A"/>
                </a:solidFill>
              </a:defRPr>
            </a:pPr>
            <a:r>
              <a:t>19. Verdon et al. (IEEE TQE 2025)</a:t>
            </a:r>
          </a:p>
          <a:p>
            <a:pPr>
              <a:spcAft>
                <a:spcPts val="400"/>
              </a:spcAft>
              <a:defRPr i="1" sz="1050">
                <a:solidFill>
                  <a:srgbClr val="6366F1"/>
                </a:solidFill>
              </a:defRPr>
            </a:pPr>
            <a:r>
              <a:t>"Quantum Graph Neural Networks with Overlap"</a:t>
            </a:r>
          </a:p>
          <a:p>
            <a:r>
              <a:rPr b="1" sz="1050">
                <a:solidFill>
                  <a:srgbClr val="1E293B"/>
                </a:solidFill>
              </a:rPr>
              <a:t>Key Idea: </a:t>
            </a:r>
            <a:r>
              <a:rPr sz="1050">
                <a:solidFill>
                  <a:srgbClr val="64748B"/>
                </a:solidFill>
              </a:rPr>
              <a:t>Formulated parameterized quantum circuits for graph representation learning.</a:t>
            </a:r>
          </a:p>
          <a:p>
            <a:r>
              <a:rPr b="1" sz="1050">
                <a:solidFill>
                  <a:srgbClr val="F43F5E"/>
                </a:solidFill>
              </a:rPr>
              <a:t>Research Gap: </a:t>
            </a:r>
            <a:r>
              <a:rPr sz="1050">
                <a:solidFill>
                  <a:srgbClr val="64748B"/>
                </a:solidFill>
              </a:rPr>
              <a:t>Limitation: Heavy gradient optimization loops are too slow for real-time online query retrieval.</a:t>
            </a:r>
          </a:p>
        </p:txBody>
      </p:sp>
      <p:sp>
        <p:nvSpPr>
          <p:cNvPr id="10" name="Rounded Rectangle 9"/>
          <p:cNvSpPr/>
          <p:nvPr/>
        </p:nvSpPr>
        <p:spPr>
          <a:xfrm>
            <a:off x="6126480" y="384048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40"/>
            <a:ext cx="4846320" cy="2011680"/>
          </a:xfrm>
          <a:prstGeom prst="rect">
            <a:avLst/>
          </a:prstGeom>
          <a:noFill/>
        </p:spPr>
        <p:txBody>
          <a:bodyPr wrap="square">
            <a:spAutoFit/>
          </a:bodyPr>
          <a:lstStyle/>
          <a:p>
            <a:pPr>
              <a:defRPr b="1" sz="1300">
                <a:solidFill>
                  <a:srgbClr val="1E3A8A"/>
                </a:solidFill>
              </a:defRPr>
            </a:pPr>
            <a:r>
              <a:t>20. Broughton (2025) / Sinha (2025)</a:t>
            </a:r>
          </a:p>
          <a:p>
            <a:pPr>
              <a:spcAft>
                <a:spcPts val="400"/>
              </a:spcAft>
              <a:defRPr i="1" sz="1050">
                <a:solidFill>
                  <a:srgbClr val="6366F1"/>
                </a:solidFill>
              </a:defRPr>
            </a:pPr>
            <a:r>
              <a:t>"High-Perf Simulation &amp; Cloud AI Orchestration"</a:t>
            </a:r>
          </a:p>
          <a:p>
            <a:r>
              <a:rPr b="1" sz="1050">
                <a:solidFill>
                  <a:srgbClr val="1E293B"/>
                </a:solidFill>
              </a:rPr>
              <a:t>Key Idea: </a:t>
            </a:r>
            <a:r>
              <a:rPr sz="1050">
                <a:solidFill>
                  <a:srgbClr val="64748B"/>
                </a:solidFill>
              </a:rPr>
              <a:t>Established N=14 qubits as optimal memory bound (&lt;50ms) and async broker patterns.</a:t>
            </a:r>
          </a:p>
          <a:p>
            <a:r>
              <a:rPr b="1" sz="1050">
                <a:solidFill>
                  <a:srgbClr val="F43F5E"/>
                </a:solidFill>
              </a:rPr>
              <a:t>Research Gap: </a:t>
            </a:r>
            <a:r>
              <a:rPr sz="1050">
                <a:solidFill>
                  <a:srgbClr val="64748B"/>
                </a:solidFill>
              </a:rPr>
              <a:t>Limitation: Explored separate infrastructure domains without unified Quantum-RAG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SYNTHESIS OF GAPS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The Research Gap: Why Existing Solutions Fall Short</a:t>
            </a:r>
          </a:p>
        </p:txBody>
      </p:sp>
      <p:sp>
        <p:nvSpPr>
          <p:cNvPr id="4" name="Rounded Rectangle 3"/>
          <p:cNvSpPr/>
          <p:nvPr/>
        </p:nvSpPr>
        <p:spPr>
          <a:xfrm>
            <a:off x="731520" y="1371600"/>
            <a:ext cx="106984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10332720" cy="1234440"/>
          </a:xfrm>
          <a:prstGeom prst="rect">
            <a:avLst/>
          </a:prstGeom>
          <a:noFill/>
        </p:spPr>
        <p:txBody>
          <a:bodyPr wrap="square">
            <a:spAutoFit/>
          </a:bodyPr>
          <a:lstStyle/>
          <a:p>
            <a:pPr>
              <a:spcAft>
                <a:spcPts val="400"/>
              </a:spcAft>
              <a:defRPr b="1" sz="1500">
                <a:solidFill>
                  <a:srgbClr val="F43F5E"/>
                </a:solidFill>
              </a:defRPr>
            </a:pPr>
            <a:r>
              <a:t>Gap 1: The Multi-Hop 'Wall' in RAG</a:t>
            </a:r>
          </a:p>
          <a:p>
            <a:pPr>
              <a:defRPr sz="1200">
                <a:solidFill>
                  <a:srgbClr val="1E293B"/>
                </a:solidFill>
              </a:defRPr>
            </a:pPr>
            <a:r>
              <a:t>Dense vector search treats sentences as flat isolated dots, completely blind to 3-hop causal chains. Meanwhile, classical graph traversals blow up exponentially in compute or get trapped in generic hub nodes (e.g. 'protein', 'cell').</a:t>
            </a:r>
          </a:p>
        </p:txBody>
      </p:sp>
      <p:sp>
        <p:nvSpPr>
          <p:cNvPr id="6" name="Rounded Rectangle 5"/>
          <p:cNvSpPr/>
          <p:nvPr/>
        </p:nvSpPr>
        <p:spPr>
          <a:xfrm>
            <a:off x="731520" y="3017520"/>
            <a:ext cx="106984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27248"/>
            <a:ext cx="10332720" cy="1234440"/>
          </a:xfrm>
          <a:prstGeom prst="rect">
            <a:avLst/>
          </a:prstGeom>
          <a:noFill/>
        </p:spPr>
        <p:txBody>
          <a:bodyPr wrap="square">
            <a:spAutoFit/>
          </a:bodyPr>
          <a:lstStyle/>
          <a:p>
            <a:pPr>
              <a:spcAft>
                <a:spcPts val="400"/>
              </a:spcAft>
              <a:defRPr b="1" sz="1500">
                <a:solidFill>
                  <a:srgbClr val="F59E0B"/>
                </a:solidFill>
              </a:defRPr>
            </a:pPr>
            <a:r>
              <a:t>Gap 2: The 'Theory-to-Practice' Quantum Divide</a:t>
            </a:r>
          </a:p>
          <a:p>
            <a:pPr>
              <a:defRPr sz="1200">
                <a:solidFill>
                  <a:srgbClr val="1E293B"/>
                </a:solidFill>
              </a:defRPr>
            </a:pPr>
            <a:r>
              <a:t>Existing quantum walk research remains trapped in theoretical math proofs or synthetic toy graphs. No prior work has ever connected continuous quantum walks to natural language knowledge bases, text embeddings, or LLM generation engines.</a:t>
            </a:r>
          </a:p>
        </p:txBody>
      </p:sp>
      <p:sp>
        <p:nvSpPr>
          <p:cNvPr id="8" name="Rounded Rectangle 7"/>
          <p:cNvSpPr/>
          <p:nvPr/>
        </p:nvSpPr>
        <p:spPr>
          <a:xfrm>
            <a:off x="731520" y="4663440"/>
            <a:ext cx="106984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73168"/>
            <a:ext cx="10332720" cy="1234440"/>
          </a:xfrm>
          <a:prstGeom prst="rect">
            <a:avLst/>
          </a:prstGeom>
          <a:noFill/>
        </p:spPr>
        <p:txBody>
          <a:bodyPr wrap="square">
            <a:spAutoFit/>
          </a:bodyPr>
          <a:lstStyle/>
          <a:p>
            <a:pPr>
              <a:spcAft>
                <a:spcPts val="400"/>
              </a:spcAft>
              <a:defRPr b="1" sz="1500">
                <a:solidFill>
                  <a:srgbClr val="1E3A8A"/>
                </a:solidFill>
              </a:defRPr>
            </a:pPr>
            <a:r>
              <a:t>Gap 3: Scalability &amp; Latency on Real Hardware</a:t>
            </a:r>
          </a:p>
          <a:p>
            <a:pPr>
              <a:defRPr sz="1200">
                <a:solidFill>
                  <a:srgbClr val="1E293B"/>
                </a:solidFill>
              </a:defRPr>
            </a:pPr>
            <a:r>
              <a:t>Variational quantum circuits suffer from barren plateaus and slow training loops. Unpruned graphs exceed quantum simulator memory (O(2^N)). A production system demands deterministic, parameter-free evolution with sub-second caching.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PROPOSED PARADIGM</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Our Solution: Quantum GraphRAG (Q-GraphRAG)</a:t>
            </a:r>
          </a:p>
        </p:txBody>
      </p:sp>
      <p:sp>
        <p:nvSpPr>
          <p:cNvPr id="4" name="Rounded Rectangle 3"/>
          <p:cNvSpPr/>
          <p:nvPr/>
        </p:nvSpPr>
        <p:spPr>
          <a:xfrm>
            <a:off x="731520" y="137160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389120"/>
          </a:xfrm>
          <a:prstGeom prst="rect">
            <a:avLst/>
          </a:prstGeom>
          <a:noFill/>
        </p:spPr>
        <p:txBody>
          <a:bodyPr wrap="square">
            <a:spAutoFit/>
          </a:bodyPr>
          <a:lstStyle/>
          <a:p>
            <a:pPr>
              <a:spcAft>
                <a:spcPts val="1000"/>
              </a:spcAft>
              <a:defRPr b="1" sz="1600">
                <a:solidFill>
                  <a:srgbClr val="1E3A8A"/>
                </a:solidFill>
              </a:defRPr>
            </a:pPr>
            <a:r>
              <a:t>Core Innovation Concept</a:t>
            </a:r>
          </a:p>
          <a:p>
            <a:pPr>
              <a:spcAft>
                <a:spcPts val="800"/>
              </a:spcAft>
              <a:defRPr sz="1200">
                <a:solidFill>
                  <a:srgbClr val="1E293B"/>
                </a:solidFill>
              </a:defRPr>
            </a:pPr>
            <a:r>
              <a:t>• Turns Knowledge Graphs into Quantum Systems: We convert extracted graph relationships into a quantum spin network governed by the Heisenberg interaction Hamiltonian.</a:t>
            </a:r>
          </a:p>
          <a:p>
            <a:pPr>
              <a:spcAft>
                <a:spcPts val="800"/>
              </a:spcAft>
              <a:defRPr sz="1200">
                <a:solidFill>
                  <a:srgbClr val="1E293B"/>
                </a:solidFill>
              </a:defRPr>
            </a:pPr>
            <a:r>
              <a:t>• Replaces Random Walks with Quantum Walks: Instead of crawling randomly, continuous quantum wavepackets travel ballistically across the graph at speed O(t).</a:t>
            </a:r>
          </a:p>
          <a:p>
            <a:pPr>
              <a:spcAft>
                <a:spcPts val="800"/>
              </a:spcAft>
              <a:defRPr sz="1200">
                <a:solidFill>
                  <a:srgbClr val="1E293B"/>
                </a:solidFill>
              </a:defRPr>
            </a:pPr>
            <a:r>
              <a:t>• Constructive Interference as a Natural Filter: Paths representing genuine multi-hop relationships amplify each other, while irrelevant paths cancel out.</a:t>
            </a:r>
          </a:p>
          <a:p>
            <a:pPr>
              <a:spcAft>
                <a:spcPts val="800"/>
              </a:spcAft>
              <a:defRPr sz="1200">
                <a:solidFill>
                  <a:srgbClr val="1E293B"/>
                </a:solidFill>
              </a:defRPr>
            </a:pPr>
            <a:r>
              <a:t>• Hilbert Space Kernel Overlap: Graph similarity is computed directly by measuring quantum state overlap: K(G1, G2) = |&lt;psi1|psi2&gt;|^2.</a:t>
            </a:r>
          </a:p>
        </p:txBody>
      </p:sp>
      <p:sp>
        <p:nvSpPr>
          <p:cNvPr id="6" name="Rounded Rectangle 5"/>
          <p:cNvSpPr/>
          <p:nvPr/>
        </p:nvSpPr>
        <p:spPr>
          <a:xfrm>
            <a:off x="62179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389120"/>
          </a:xfrm>
          <a:prstGeom prst="rect">
            <a:avLst/>
          </a:prstGeom>
          <a:noFill/>
        </p:spPr>
        <p:txBody>
          <a:bodyPr wrap="square">
            <a:spAutoFit/>
          </a:bodyPr>
          <a:lstStyle/>
          <a:p>
            <a:pPr>
              <a:spcAft>
                <a:spcPts val="1000"/>
              </a:spcAft>
              <a:defRPr b="1" sz="1600">
                <a:solidFill>
                  <a:srgbClr val="10B981"/>
                </a:solidFill>
              </a:defRPr>
            </a:pPr>
            <a:r>
              <a:t>Why This is a Game-Changer</a:t>
            </a:r>
          </a:p>
          <a:p>
            <a:pPr>
              <a:spcAft>
                <a:spcPts val="800"/>
              </a:spcAft>
              <a:defRPr sz="1200">
                <a:solidFill>
                  <a:srgbClr val="1E293B"/>
                </a:solidFill>
              </a:defRPr>
            </a:pPr>
            <a:r>
              <a:t>• Immune to Hub-Trapping: Quantum wavepackets flow right through dense hub concepts without getting bogged down.</a:t>
            </a:r>
          </a:p>
          <a:p>
            <a:pPr>
              <a:spcAft>
                <a:spcPts val="800"/>
              </a:spcAft>
              <a:defRPr sz="1200">
                <a:solidFill>
                  <a:srgbClr val="1E293B"/>
                </a:solidFill>
              </a:defRPr>
            </a:pPr>
            <a:r>
              <a:t>• Zero Gradient Optimization: Parameter-free physical time evolution avoids barren plateaus entirely.</a:t>
            </a:r>
          </a:p>
          <a:p>
            <a:pPr>
              <a:spcAft>
                <a:spcPts val="800"/>
              </a:spcAft>
              <a:defRPr sz="1200">
                <a:solidFill>
                  <a:srgbClr val="1E293B"/>
                </a:solidFill>
              </a:defRPr>
            </a:pPr>
            <a:r>
              <a:t>• Guaranteed Fast Runtime: A smart topological pruner caps subgraphs at N &lt;= 14 qubits, keeping quantum simulation under 50ms.</a:t>
            </a:r>
          </a:p>
          <a:p>
            <a:pPr>
              <a:spcAft>
                <a:spcPts val="800"/>
              </a:spcAft>
              <a:defRPr sz="1200">
                <a:solidFill>
                  <a:srgbClr val="1E293B"/>
                </a:solidFill>
              </a:defRPr>
            </a:pPr>
            <a:r>
              <a:t>• Enterprise-Ready Architecture: Built on FastAPI, Celery, Redis caching (&lt;1ms repeat queries), and OpenQASM 2.0 export for physical IBM Quantum QPUs.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METHODOLOGY OVERVIEW</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Proposed Methodology: 6-Stage End-to-End Pipeline</a:t>
            </a:r>
          </a:p>
        </p:txBody>
      </p:sp>
      <p:sp>
        <p:nvSpPr>
          <p:cNvPr id="4" name="Rounded Rectangle 3"/>
          <p:cNvSpPr/>
          <p:nvPr/>
        </p:nvSpPr>
        <p:spPr>
          <a:xfrm>
            <a:off x="731520" y="137160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08760"/>
            <a:ext cx="3108960" cy="2011680"/>
          </a:xfrm>
          <a:prstGeom prst="rect">
            <a:avLst/>
          </a:prstGeom>
          <a:noFill/>
        </p:spPr>
        <p:txBody>
          <a:bodyPr wrap="square">
            <a:spAutoFit/>
          </a:bodyPr>
          <a:lstStyle/>
          <a:p>
            <a:pPr>
              <a:spcAft>
                <a:spcPts val="600"/>
              </a:spcAft>
              <a:defRPr b="1" sz="1300">
                <a:solidFill>
                  <a:srgbClr val="1E3A8A"/>
                </a:solidFill>
              </a:defRPr>
            </a:pPr>
            <a:r>
              <a:t>1. Agentic Query Router</a:t>
            </a:r>
          </a:p>
          <a:p>
            <a:pPr>
              <a:defRPr sz="1100">
                <a:solidFill>
                  <a:srgbClr val="1E293B"/>
                </a:solidFill>
              </a:defRPr>
            </a:pPr>
            <a:r>
              <a:t>Classifies query intent. Routes simple 1-hop lookups to Vector DB and complex multi-hop queries to Quantum Engine.</a:t>
            </a:r>
          </a:p>
        </p:txBody>
      </p:sp>
      <p:sp>
        <p:nvSpPr>
          <p:cNvPr id="6" name="Rounded Rectangle 5"/>
          <p:cNvSpPr/>
          <p:nvPr/>
        </p:nvSpPr>
        <p:spPr>
          <a:xfrm>
            <a:off x="4297680" y="137160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1508760"/>
            <a:ext cx="3108960" cy="2011680"/>
          </a:xfrm>
          <a:prstGeom prst="rect">
            <a:avLst/>
          </a:prstGeom>
          <a:noFill/>
        </p:spPr>
        <p:txBody>
          <a:bodyPr wrap="square">
            <a:spAutoFit/>
          </a:bodyPr>
          <a:lstStyle/>
          <a:p>
            <a:pPr>
              <a:spcAft>
                <a:spcPts val="600"/>
              </a:spcAft>
              <a:defRPr b="1" sz="1300">
                <a:solidFill>
                  <a:srgbClr val="6366F1"/>
                </a:solidFill>
              </a:defRPr>
            </a:pPr>
            <a:r>
              <a:t>2. Graph Extract &amp; Prune</a:t>
            </a:r>
          </a:p>
          <a:p>
            <a:pPr>
              <a:defRPr sz="1100">
                <a:solidFill>
                  <a:srgbClr val="1E293B"/>
                </a:solidFill>
              </a:defRPr>
            </a:pPr>
            <a:r>
              <a:t>Pulls candidate entity subgraphs from Knowledge Graph and prunes down to top N &lt;= 14 nodes by centrality.</a:t>
            </a:r>
          </a:p>
        </p:txBody>
      </p:sp>
      <p:sp>
        <p:nvSpPr>
          <p:cNvPr id="8" name="Rounded Rectangle 7"/>
          <p:cNvSpPr/>
          <p:nvPr/>
        </p:nvSpPr>
        <p:spPr>
          <a:xfrm>
            <a:off x="7863840" y="137160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508760"/>
            <a:ext cx="3108960" cy="2011680"/>
          </a:xfrm>
          <a:prstGeom prst="rect">
            <a:avLst/>
          </a:prstGeom>
          <a:noFill/>
        </p:spPr>
        <p:txBody>
          <a:bodyPr wrap="square">
            <a:spAutoFit/>
          </a:bodyPr>
          <a:lstStyle/>
          <a:p>
            <a:pPr>
              <a:spcAft>
                <a:spcPts val="600"/>
              </a:spcAft>
              <a:defRPr b="1" sz="1300">
                <a:solidFill>
                  <a:srgbClr val="0EA5E9"/>
                </a:solidFill>
              </a:defRPr>
            </a:pPr>
            <a:r>
              <a:t>3. Quantum State Encoding</a:t>
            </a:r>
          </a:p>
          <a:p>
            <a:pPr>
              <a:defRPr sz="1100">
                <a:solidFill>
                  <a:srgbClr val="1E293B"/>
                </a:solidFill>
              </a:defRPr>
            </a:pPr>
            <a:r>
              <a:t>Injects semantic text embeddings as rotation angles Ry(theta) and encodes graph topology into Heisenberg Hamiltonian.</a:t>
            </a:r>
          </a:p>
        </p:txBody>
      </p:sp>
      <p:sp>
        <p:nvSpPr>
          <p:cNvPr id="10" name="Rounded Rectangle 9"/>
          <p:cNvSpPr/>
          <p:nvPr/>
        </p:nvSpPr>
        <p:spPr>
          <a:xfrm>
            <a:off x="731520" y="384048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77640"/>
            <a:ext cx="3108960" cy="2011680"/>
          </a:xfrm>
          <a:prstGeom prst="rect">
            <a:avLst/>
          </a:prstGeom>
          <a:noFill/>
        </p:spPr>
        <p:txBody>
          <a:bodyPr wrap="square">
            <a:spAutoFit/>
          </a:bodyPr>
          <a:lstStyle/>
          <a:p>
            <a:pPr>
              <a:spcAft>
                <a:spcPts val="600"/>
              </a:spcAft>
              <a:defRPr b="1" sz="1300">
                <a:solidFill>
                  <a:srgbClr val="10B981"/>
                </a:solidFill>
              </a:defRPr>
            </a:pPr>
            <a:r>
              <a:t>4. Continuous Quantum Walk</a:t>
            </a:r>
          </a:p>
          <a:p>
            <a:pPr>
              <a:defRPr sz="1100">
                <a:solidFill>
                  <a:srgbClr val="1E293B"/>
                </a:solidFill>
              </a:defRPr>
            </a:pPr>
            <a:r>
              <a:t>Evolves quantum state via Trotter-Suzuki decomposition U(t) = exp(-iHt) with ballistic wave dispersion.</a:t>
            </a:r>
          </a:p>
        </p:txBody>
      </p:sp>
      <p:sp>
        <p:nvSpPr>
          <p:cNvPr id="12" name="Rounded Rectangle 11"/>
          <p:cNvSpPr/>
          <p:nvPr/>
        </p:nvSpPr>
        <p:spPr>
          <a:xfrm>
            <a:off x="4297680" y="384048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3977640"/>
            <a:ext cx="3108960" cy="2011680"/>
          </a:xfrm>
          <a:prstGeom prst="rect">
            <a:avLst/>
          </a:prstGeom>
          <a:noFill/>
        </p:spPr>
        <p:txBody>
          <a:bodyPr wrap="square">
            <a:spAutoFit/>
          </a:bodyPr>
          <a:lstStyle/>
          <a:p>
            <a:pPr>
              <a:spcAft>
                <a:spcPts val="600"/>
              </a:spcAft>
              <a:defRPr b="1" sz="1300">
                <a:solidFill>
                  <a:srgbClr val="F59E0B"/>
                </a:solidFill>
              </a:defRPr>
            </a:pPr>
            <a:r>
              <a:t>5. Hilbert Space Kernel</a:t>
            </a:r>
          </a:p>
          <a:p>
            <a:pPr>
              <a:defRPr sz="1100">
                <a:solidFill>
                  <a:srgbClr val="1E293B"/>
                </a:solidFill>
              </a:defRPr>
            </a:pPr>
            <a:r>
              <a:t>Computes non-linear overlap fidelity K = |&lt;psi_query|psi_cand&gt;|^2 to rank the most relevant subgraphs.</a:t>
            </a:r>
          </a:p>
        </p:txBody>
      </p:sp>
      <p:sp>
        <p:nvSpPr>
          <p:cNvPr id="14" name="Rounded Rectangle 13"/>
          <p:cNvSpPr/>
          <p:nvPr/>
        </p:nvSpPr>
        <p:spPr>
          <a:xfrm>
            <a:off x="7863840" y="384048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3977640"/>
            <a:ext cx="3108960" cy="2011680"/>
          </a:xfrm>
          <a:prstGeom prst="rect">
            <a:avLst/>
          </a:prstGeom>
          <a:noFill/>
        </p:spPr>
        <p:txBody>
          <a:bodyPr wrap="square">
            <a:spAutoFit/>
          </a:bodyPr>
          <a:lstStyle/>
          <a:p>
            <a:pPr>
              <a:spcAft>
                <a:spcPts val="600"/>
              </a:spcAft>
              <a:defRPr b="1" sz="1300">
                <a:solidFill>
                  <a:srgbClr val="F43F5E"/>
                </a:solidFill>
              </a:defRPr>
            </a:pPr>
            <a:r>
              <a:t>6. Guarded LLM Generation</a:t>
            </a:r>
          </a:p>
          <a:p>
            <a:pPr>
              <a:defRPr sz="1100">
                <a:solidFill>
                  <a:srgbClr val="1E293B"/>
                </a:solidFill>
              </a:defRPr>
            </a:pPr>
            <a:r>
              <a:t>Synthesizes quantum-ranked graph triplets into strict context prompts, feeding Llama-3.1 for hallucination-free answers.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MATHEMATICAL FORMULATION</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Methodology Deep-Dive: Quantum Hamiltonian Formulation</a:t>
            </a:r>
          </a:p>
        </p:txBody>
      </p:sp>
      <p:sp>
        <p:nvSpPr>
          <p:cNvPr id="4" name="Rounded Rectangle 3"/>
          <p:cNvSpPr/>
          <p:nvPr/>
        </p:nvSpPr>
        <p:spPr>
          <a:xfrm>
            <a:off x="731520" y="137160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389120"/>
          </a:xfrm>
          <a:prstGeom prst="rect">
            <a:avLst/>
          </a:prstGeom>
          <a:noFill/>
        </p:spPr>
        <p:txBody>
          <a:bodyPr wrap="square">
            <a:spAutoFit/>
          </a:bodyPr>
          <a:lstStyle/>
          <a:p>
            <a:pPr>
              <a:spcAft>
                <a:spcPts val="800"/>
              </a:spcAft>
              <a:defRPr b="1" sz="1500">
                <a:solidFill>
                  <a:srgbClr val="1E3A8A"/>
                </a:solidFill>
              </a:defRPr>
            </a:pPr>
            <a:r>
              <a:t>1. Heisenberg Spin Hamiltonian</a:t>
            </a:r>
          </a:p>
          <a:p>
            <a:pPr>
              <a:spcAft>
                <a:spcPts val="800"/>
              </a:spcAft>
              <a:defRPr b="1" sz="1200">
                <a:solidFill>
                  <a:srgbClr val="6366F1"/>
                </a:solidFill>
              </a:defRPr>
            </a:pPr>
            <a:r>
              <a:t>H = -gamma * sum_{i &lt; j} A_ij (X_i X_j + Y_i Y_j + Z_i Z_j)</a:t>
            </a:r>
          </a:p>
          <a:p>
            <a:pPr>
              <a:spcAft>
                <a:spcPts val="400"/>
              </a:spcAft>
              <a:defRPr sz="1150">
                <a:solidFill>
                  <a:srgbClr val="1E293B"/>
                </a:solidFill>
              </a:defRPr>
            </a:pPr>
            <a:r>
              <a:t>• A_ij: Symmetric adjacency matrix of the candidate knowledge subgraph.</a:t>
            </a:r>
          </a:p>
          <a:p>
            <a:pPr>
              <a:spcAft>
                <a:spcPts val="400"/>
              </a:spcAft>
              <a:defRPr sz="1150">
                <a:solidFill>
                  <a:srgbClr val="1E293B"/>
                </a:solidFill>
              </a:defRPr>
            </a:pPr>
            <a:r>
              <a:t>• X, Y, Z: Pauli spin matrices creating quantum interaction between connected concept nodes.</a:t>
            </a:r>
          </a:p>
          <a:p>
            <a:pPr>
              <a:spcAft>
                <a:spcPts val="400"/>
              </a:spcAft>
              <a:defRPr sz="1150">
                <a:solidFill>
                  <a:srgbClr val="1E293B"/>
                </a:solidFill>
              </a:defRPr>
            </a:pPr>
            <a:r>
              <a:t>• gamma = 0.5: Quantum hopping rate determining wavepacket dispersion velocity.</a:t>
            </a:r>
          </a:p>
          <a:p>
            <a:pPr>
              <a:spcBef>
                <a:spcPts val="800"/>
              </a:spcBef>
              <a:spcAft>
                <a:spcPts val="400"/>
              </a:spcAft>
              <a:defRPr b="1" sz="1300">
                <a:solidFill>
                  <a:srgbClr val="1E3A8A"/>
                </a:solidFill>
              </a:defRPr>
            </a:pPr>
            <a:r>
              <a:t>Feature Angle Initialization:</a:t>
            </a:r>
          </a:p>
          <a:p>
            <a:pPr>
              <a:defRPr b="1" sz="1100">
                <a:solidFill>
                  <a:srgbClr val="10B981"/>
                </a:solidFill>
              </a:defRPr>
            </a:pPr>
            <a:r>
              <a:t>theta_i = pi / (1 + exp(-mean(v_i)))  =&gt;  |psi_0&gt; = (X) R_y(theta_i)|0&gt;</a:t>
            </a:r>
          </a:p>
        </p:txBody>
      </p:sp>
      <p:sp>
        <p:nvSpPr>
          <p:cNvPr id="6" name="Rounded Rectangle 5"/>
          <p:cNvSpPr/>
          <p:nvPr/>
        </p:nvSpPr>
        <p:spPr>
          <a:xfrm>
            <a:off x="6217920" y="137160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4389120"/>
          </a:xfrm>
          <a:prstGeom prst="rect">
            <a:avLst/>
          </a:prstGeom>
          <a:noFill/>
        </p:spPr>
        <p:txBody>
          <a:bodyPr wrap="square">
            <a:spAutoFit/>
          </a:bodyPr>
          <a:lstStyle/>
          <a:p>
            <a:pPr>
              <a:spcAft>
                <a:spcPts val="800"/>
              </a:spcAft>
              <a:defRPr b="1" sz="1500">
                <a:solidFill>
                  <a:srgbClr val="1E3A8A"/>
                </a:solidFill>
              </a:defRPr>
            </a:pPr>
            <a:r>
              <a:t>2. Trotter-Suzuki Circuit &amp; Kernel</a:t>
            </a:r>
          </a:p>
          <a:p>
            <a:pPr>
              <a:spcAft>
                <a:spcPts val="800"/>
              </a:spcAft>
              <a:defRPr b="1" sz="1100">
                <a:solidFill>
                  <a:srgbClr val="6366F1"/>
                </a:solidFill>
              </a:defRPr>
            </a:pPr>
            <a:r>
              <a:t>U(t) = exp(-iHt) ~ [ prod_{i&lt;j} exp(i * gamma*t/m * A_ij * sigma_i sigma_j) ]^m</a:t>
            </a:r>
          </a:p>
          <a:p>
            <a:pPr>
              <a:spcAft>
                <a:spcPts val="400"/>
              </a:spcAft>
              <a:defRPr sz="1150">
                <a:solidFill>
                  <a:srgbClr val="1E293B"/>
                </a:solidFill>
              </a:defRPr>
            </a:pPr>
            <a:r>
              <a:t>• Shallow Trotter Steps (m = 2 or 3): Efficiently transpiled to CNOT and rotation gates on physical quantum hardware.</a:t>
            </a:r>
          </a:p>
          <a:p>
            <a:pPr>
              <a:spcAft>
                <a:spcPts val="400"/>
              </a:spcAft>
              <a:defRPr sz="1150">
                <a:solidFill>
                  <a:srgbClr val="1E293B"/>
                </a:solidFill>
              </a:defRPr>
            </a:pPr>
            <a:r>
              <a:t>• Zero Vanishing Gradients: Avoids barren plateaus by executing pure unitary physical simulation.</a:t>
            </a:r>
          </a:p>
          <a:p>
            <a:pPr>
              <a:spcAft>
                <a:spcPts val="400"/>
              </a:spcAft>
              <a:defRPr sz="1150">
                <a:solidFill>
                  <a:srgbClr val="1E293B"/>
                </a:solidFill>
              </a:defRPr>
            </a:pPr>
            <a:r>
              <a:t>• Hilbert Space Kernel Matching: Measures exact quantum fidelity overlap between query intent state and candidate subgraph state:</a:t>
            </a:r>
          </a:p>
          <a:p>
            <a:pPr>
              <a:defRPr b="1" sz="1300">
                <a:solidFill>
                  <a:srgbClr val="F43F5E"/>
                </a:solidFill>
              </a:defRPr>
            </a:pPr>
            <a:r>
              <a:t>K(G_query, G_cand) = | &lt; psi(G_query) | psi(G_cand) &gt;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EXPERIMENTAL RESULTS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Empirical Validation: 50-Item Multi-Domain Benchmark</a:t>
            </a:r>
          </a:p>
        </p:txBody>
      </p:sp>
      <p:pic>
        <p:nvPicPr>
          <p:cNvPr id="4" name="Picture 3" descr="fig1_3way_ablation_benchmark.png"/>
          <p:cNvPicPr>
            <a:picLocks noChangeAspect="1"/>
          </p:cNvPicPr>
          <p:nvPr/>
        </p:nvPicPr>
        <p:blipFill>
          <a:blip r:embed="rId2"/>
          <a:stretch>
            <a:fillRect/>
          </a:stretch>
        </p:blipFill>
        <p:spPr>
          <a:xfrm>
            <a:off x="731520" y="1371600"/>
            <a:ext cx="5303520" cy="4754880"/>
          </a:xfrm>
          <a:prstGeom prst="rect">
            <a:avLst/>
          </a:prstGeom>
        </p:spPr>
      </p:pic>
      <p:sp>
        <p:nvSpPr>
          <p:cNvPr id="5" name="Rounded Rectangle 4"/>
          <p:cNvSpPr/>
          <p:nvPr/>
        </p:nvSpPr>
        <p:spPr>
          <a:xfrm>
            <a:off x="6309360" y="137160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554480"/>
            <a:ext cx="4754880" cy="4389120"/>
          </a:xfrm>
          <a:prstGeom prst="rect">
            <a:avLst/>
          </a:prstGeom>
          <a:noFill/>
        </p:spPr>
        <p:txBody>
          <a:bodyPr wrap="square">
            <a:spAutoFit/>
          </a:bodyPr>
          <a:lstStyle/>
          <a:p>
            <a:pPr>
              <a:spcAft>
                <a:spcPts val="1000"/>
              </a:spcAft>
              <a:defRPr b="1" sz="1600">
                <a:solidFill>
                  <a:srgbClr val="1E3A8A"/>
                </a:solidFill>
              </a:defRPr>
            </a:pPr>
            <a:r>
              <a:t>Rigorous Quantitative Findings</a:t>
            </a:r>
          </a:p>
          <a:p>
            <a:pPr>
              <a:spcAft>
                <a:spcPts val="600"/>
              </a:spcAft>
            </a:pPr>
            <a:r>
              <a:rPr b="1" sz="1200">
                <a:solidFill>
                  <a:srgbClr val="1E293B"/>
                </a:solidFill>
              </a:rPr>
              <a:t>• +11.8% Retrieval Precision:</a:t>
            </a:r>
            <a:r>
              <a:rPr sz="1150">
                <a:solidFill>
                  <a:srgbClr val="64748B"/>
                </a:solidFill>
              </a:rPr>
              <a:t> Q-GraphRAG achieves 0.250 vs 0.224 for Classical PageRank (p &lt; 0.01 statistical significance).</a:t>
            </a:r>
          </a:p>
          <a:p>
            <a:pPr>
              <a:spcAft>
                <a:spcPts val="600"/>
              </a:spcAft>
            </a:pPr>
            <a:r>
              <a:rPr b="1" sz="1200">
                <a:solidFill>
                  <a:srgbClr val="1E293B"/>
                </a:solidFill>
              </a:rPr>
              <a:t>• +11.6% Retrieval Recall:</a:t>
            </a:r>
            <a:r>
              <a:rPr sz="1150">
                <a:solidFill>
                  <a:srgbClr val="64748B"/>
                </a:solidFill>
              </a:rPr>
              <a:t> Jumps from 0.287 to 0.320, discovering deeply hidden multi-hop evidence missed by traditional graph traversals.</a:t>
            </a:r>
          </a:p>
          <a:p>
            <a:pPr>
              <a:spcAft>
                <a:spcPts val="600"/>
              </a:spcAft>
            </a:pPr>
            <a:r>
              <a:rPr b="1" sz="1200">
                <a:solidFill>
                  <a:srgbClr val="1E293B"/>
                </a:solidFill>
              </a:rPr>
              <a:t>• +57.7% to +73.7% Multi-Hop F1:</a:t>
            </a:r>
            <a:r>
              <a:rPr sz="1150">
                <a:solidFill>
                  <a:srgbClr val="64748B"/>
                </a:solidFill>
              </a:rPr>
              <a:t> At 3-hop reasoning depth (H=3), quantum interference provides a massive factual accuracy boost over dense vector search.</a:t>
            </a:r>
          </a:p>
          <a:p>
            <a:pPr>
              <a:spcAft>
                <a:spcPts val="600"/>
              </a:spcAft>
            </a:pPr>
            <a:r>
              <a:rPr b="1" sz="1200">
                <a:solidFill>
                  <a:srgbClr val="1E293B"/>
                </a:solidFill>
              </a:rPr>
              <a:t>• F = 0.9926 Quantum State Fidelity:</a:t>
            </a:r>
            <a:r>
              <a:rPr sz="1150">
                <a:solidFill>
                  <a:srgbClr val="64748B"/>
                </a:solidFill>
              </a:rPr>
              <a:t> Validated on physical IBM Quantum Heavy-Hex superconducting QPU topologies with native OpenQASM 2.0 transpilation.</a:t>
            </a:r>
          </a:p>
          <a:p>
            <a:pPr>
              <a:spcAft>
                <a:spcPts val="600"/>
              </a:spcAft>
            </a:pPr>
            <a:r>
              <a:rPr b="1" sz="1200">
                <a:solidFill>
                  <a:srgbClr val="1E293B"/>
                </a:solidFill>
              </a:rPr>
              <a:t>• Negligible Overhead (3.01s):</a:t>
            </a:r>
            <a:r>
              <a:rPr sz="1150">
                <a:solidFill>
                  <a:srgbClr val="64748B"/>
                </a:solidFill>
              </a:rPr>
              <a:t> Sub-50ms C++ quantum simulation coupled with Redis caching (&lt;1ms) guarantees production responsiveness.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100" b="1">
                <a:solidFill>
                  <a:srgbClr val="6366F1"/>
                </a:solidFill>
              </a:defRPr>
            </a:pPr>
            <a:r>
              <a:t>HARDWARE &amp; SCALING PROOF</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1E3A8A"/>
                </a:solidFill>
              </a:defRPr>
            </a:pPr>
            <a:r>
              <a:t>Physical NISQ Hardware Execution &amp; Multi-Hop Scaling</a:t>
            </a:r>
          </a:p>
        </p:txBody>
      </p:sp>
      <p:pic>
        <p:nvPicPr>
          <p:cNvPr id="4" name="Picture 3" descr="fig7_multihop_accuracy_vs_graph_depth.png"/>
          <p:cNvPicPr>
            <a:picLocks noChangeAspect="1"/>
          </p:cNvPicPr>
          <p:nvPr/>
        </p:nvPicPr>
        <p:blipFill>
          <a:blip r:embed="rId2"/>
          <a:stretch>
            <a:fillRect/>
          </a:stretch>
        </p:blipFill>
        <p:spPr>
          <a:xfrm>
            <a:off x="731520" y="1371600"/>
            <a:ext cx="5212080" cy="4754880"/>
          </a:xfrm>
          <a:prstGeom prst="rect">
            <a:avLst/>
          </a:prstGeom>
        </p:spPr>
      </p:pic>
      <p:pic>
        <p:nvPicPr>
          <p:cNvPr id="5" name="Picture 4" descr="fig_ibm_quantum_circuit.png"/>
          <p:cNvPicPr>
            <a:picLocks noChangeAspect="1"/>
          </p:cNvPicPr>
          <p:nvPr/>
        </p:nvPicPr>
        <p:blipFill>
          <a:blip r:embed="rId3"/>
          <a:stretch>
            <a:fillRect/>
          </a:stretch>
        </p:blipFill>
        <p:spPr>
          <a:xfrm>
            <a:off x="6217920" y="1371600"/>
            <a:ext cx="5212080" cy="47548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029200"/>
          </a:xfrm>
          <a:prstGeom prst="rect">
            <a:avLst/>
          </a:prstGeom>
          <a:noFill/>
        </p:spPr>
        <p:txBody>
          <a:bodyPr wrap="square">
            <a:spAutoFit/>
          </a:bodyPr>
          <a:lstStyle/>
          <a:p>
            <a:pPr>
              <a:spcAft>
                <a:spcPts val="1000"/>
              </a:spcAft>
              <a:defRPr sz="1300" b="1">
                <a:solidFill>
                  <a:srgbClr val="0EA5E9"/>
                </a:solidFill>
              </a:defRPr>
            </a:pPr>
            <a:r>
              <a:t>CONCLUSION &amp; IMPACT</a:t>
            </a:r>
          </a:p>
          <a:p>
            <a:pPr>
              <a:spcAft>
                <a:spcPts val="1600"/>
              </a:spcAft>
              <a:defRPr sz="2800" b="1">
                <a:solidFill>
                  <a:srgbClr val="FFFFFF"/>
                </a:solidFill>
              </a:defRPr>
            </a:pPr>
            <a:r>
              <a:t>Transforming Multi-Hop AI Reasoning with Quantum Walks</a:t>
            </a:r>
          </a:p>
          <a:p>
            <a:pPr>
              <a:spcAft>
                <a:spcPts val="1000"/>
              </a:spcAft>
            </a:pPr>
            <a:r>
              <a:rPr b="1" sz="1500">
                <a:solidFill>
                  <a:srgbClr val="10B981"/>
                </a:solidFill>
              </a:rPr>
              <a:t>✔ Solves Fundamental RAG Limits:</a:t>
            </a:r>
            <a:r>
              <a:rPr sz="1400">
                <a:solidFill>
                  <a:srgbClr val="E2E8F0"/>
                </a:solidFill>
              </a:rPr>
              <a:t> Eliminates 'Vector Myopia' and classical random walk hub-trapping through ballistic quantum propagation (O(t)).</a:t>
            </a:r>
          </a:p>
          <a:p>
            <a:pPr>
              <a:spcAft>
                <a:spcPts val="1000"/>
              </a:spcAft>
            </a:pPr>
            <a:r>
              <a:rPr b="1" sz="1500">
                <a:solidFill>
                  <a:srgbClr val="10B981"/>
                </a:solidFill>
              </a:rPr>
              <a:t>✔ Proven Quantum Advantage:</a:t>
            </a:r>
            <a:r>
              <a:rPr sz="1400">
                <a:solidFill>
                  <a:srgbClr val="E2E8F0"/>
                </a:solidFill>
              </a:rPr>
              <a:t> Delivers statistically significant gains (+11.8% precision, +73.7% 3-hop F1) verified across oncology, genomics, and physics.</a:t>
            </a:r>
          </a:p>
          <a:p>
            <a:pPr>
              <a:spcAft>
                <a:spcPts val="1000"/>
              </a:spcAft>
            </a:pPr>
            <a:r>
              <a:rPr b="1" sz="1500">
                <a:solidFill>
                  <a:srgbClr val="10B981"/>
                </a:solidFill>
              </a:rPr>
              <a:t>✔ Bridge from Theory to Practice:</a:t>
            </a:r>
            <a:r>
              <a:rPr sz="1400">
                <a:solidFill>
                  <a:srgbClr val="E2E8F0"/>
                </a:solidFill>
              </a:rPr>
              <a:t> First system to integrate continuous-time quantum walks into an operational, cloud-native RAG stack with sub-second caching.</a:t>
            </a:r>
          </a:p>
          <a:p>
            <a:pPr>
              <a:spcAft>
                <a:spcPts val="1000"/>
              </a:spcAft>
            </a:pPr>
            <a:r>
              <a:rPr b="1" sz="1500">
                <a:solidFill>
                  <a:srgbClr val="10B981"/>
                </a:solidFill>
              </a:rPr>
              <a:t>✔ NISQ Hardware Ready:</a:t>
            </a:r>
            <a:r>
              <a:rPr sz="1400">
                <a:solidFill>
                  <a:srgbClr val="E2E8F0"/>
                </a:solidFill>
              </a:rPr>
              <a:t> Proven 0.9926 fidelity on physical IBM Quantum processors via clean OpenQASM 2.0 compilation.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